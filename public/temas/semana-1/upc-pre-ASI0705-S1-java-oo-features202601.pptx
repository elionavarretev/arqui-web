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83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4" r:id="rId28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46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292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95286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292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95286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292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9744" y="26"/>
            <a:ext cx="8194548" cy="975357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2357" y="895858"/>
            <a:ext cx="2030856" cy="82600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292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422777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462831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208801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6718300" y="635000"/>
            <a:ext cx="53340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1891201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17716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218343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539048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468034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6718300" y="8890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735696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1270000" y="4259094"/>
            <a:ext cx="10464800" cy="62581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Zizou Slab" pitchFamily="2" charset="77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851127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403566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348984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9708" y="1252855"/>
            <a:ext cx="536448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292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0552" y="4215129"/>
            <a:ext cx="10245725" cy="414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95286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dirty="0"/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5503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ransition spd="med"/>
  <p:txStyles>
    <p:title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2"/>
          </a:solidFill>
          <a:uFillTx/>
          <a:latin typeface="Zizou Slab" pitchFamily="2" charset="77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Zizou Slab" pitchFamily="2" charset="77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Zizou Slab" pitchFamily="2" charset="77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Zizou Slab" pitchFamily="2" charset="77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Zizou Slab" pitchFamily="2" charset="77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Zizou Slab" pitchFamily="2" charset="77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7" Type="http://schemas.openxmlformats.org/officeDocument/2006/relationships/image" Target="../media/image5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5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52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5" Type="http://schemas.openxmlformats.org/officeDocument/2006/relationships/image" Target="../media/image62.png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2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73.png"/><Relationship Id="rId17" Type="http://schemas.openxmlformats.org/officeDocument/2006/relationships/image" Target="../media/image96.png"/><Relationship Id="rId2" Type="http://schemas.openxmlformats.org/officeDocument/2006/relationships/image" Target="../media/image82.png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4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94.png"/><Relationship Id="rId7" Type="http://schemas.openxmlformats.org/officeDocument/2006/relationships/image" Target="../media/image107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10" Type="http://schemas.openxmlformats.org/officeDocument/2006/relationships/image" Target="../media/image109.png"/><Relationship Id="rId4" Type="http://schemas.openxmlformats.org/officeDocument/2006/relationships/image" Target="../media/image104.png"/><Relationship Id="rId9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94.png"/><Relationship Id="rId7" Type="http://schemas.openxmlformats.org/officeDocument/2006/relationships/image" Target="../media/image113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10" Type="http://schemas.openxmlformats.org/officeDocument/2006/relationships/image" Target="../media/image96.png"/><Relationship Id="rId4" Type="http://schemas.openxmlformats.org/officeDocument/2006/relationships/image" Target="../media/image110.png"/><Relationship Id="rId9" Type="http://schemas.openxmlformats.org/officeDocument/2006/relationships/image" Target="../media/image1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image" Target="../media/image124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3.png"/><Relationship Id="rId5" Type="http://schemas.openxmlformats.org/officeDocument/2006/relationships/image" Target="../media/image39.png"/><Relationship Id="rId4" Type="http://schemas.openxmlformats.org/officeDocument/2006/relationships/image" Target="../media/image12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9.png"/><Relationship Id="rId11" Type="http://schemas.openxmlformats.org/officeDocument/2006/relationships/image" Target="../media/image134.png"/><Relationship Id="rId5" Type="http://schemas.openxmlformats.org/officeDocument/2006/relationships/image" Target="../media/image128.png"/><Relationship Id="rId10" Type="http://schemas.openxmlformats.org/officeDocument/2006/relationships/image" Target="../media/image133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A1582E-E9AB-DC26-9307-9A217AB061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r="40837"/>
          <a:stretch>
            <a:fillRect/>
          </a:stretch>
        </p:blipFill>
        <p:spPr>
          <a:xfrm>
            <a:off x="24070" y="-15240"/>
            <a:ext cx="13004800" cy="9753600"/>
          </a:xfrm>
          <a:prstGeom prst="rect">
            <a:avLst/>
          </a:prstGeom>
          <a:blipFill>
            <a:blip r:embed="rId3">
              <a:alphaModFix amt="20000"/>
            </a:blip>
          </a:blipFill>
          <a:ln w="12700">
            <a:miter lim="400000"/>
          </a:ln>
        </p:spPr>
      </p:pic>
      <p:sp>
        <p:nvSpPr>
          <p:cNvPr id="120" name="APPLE  UX REVIEW"/>
          <p:cNvSpPr txBox="1"/>
          <p:nvPr/>
        </p:nvSpPr>
        <p:spPr>
          <a:xfrm>
            <a:off x="6526470" y="3453209"/>
            <a:ext cx="5822108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defRPr sz="5600" b="0">
                <a:solidFill>
                  <a:srgbClr val="FFFFFF"/>
                </a:solidFill>
                <a:latin typeface="Solano Gothic MVB Std Bold"/>
                <a:ea typeface="Solano Gothic MVB Std Bold"/>
                <a:cs typeface="Solano Gothic MVB Std Bold"/>
                <a:sym typeface="Solano Gothic MVB Std Bold"/>
              </a:defRPr>
            </a:lvl1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"/>
                <a:sym typeface="Solano Gothic MVB Std Bold"/>
              </a:rPr>
              <a:t>JAVA OO FEATURES</a:t>
            </a:r>
            <a:endParaRPr kumimoji="0" sz="5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Zizou Slab"/>
              <a:sym typeface="Solano Gothic MVB Std Bold"/>
            </a:endParaRPr>
          </a:p>
        </p:txBody>
      </p:sp>
      <p:pic>
        <p:nvPicPr>
          <p:cNvPr id="121" name="logo-footer-3.png" descr="logo-footer-3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1538317" y="651282"/>
            <a:ext cx="810261" cy="810261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SI458 | Implementación de Aplicaciones para Dispositivos Apple"/>
          <p:cNvSpPr txBox="1"/>
          <p:nvPr/>
        </p:nvSpPr>
        <p:spPr>
          <a:xfrm>
            <a:off x="636884" y="8751330"/>
            <a:ext cx="5320367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b="0">
                <a:solidFill>
                  <a:srgbClr val="FFFFFF"/>
                </a:solidFill>
                <a:latin typeface="Zizou Slab"/>
                <a:ea typeface="Zizou Slab"/>
                <a:cs typeface="Zizou Slab"/>
                <a:sym typeface="Zizou Slab"/>
              </a:defRPr>
            </a:lvl1pPr>
          </a:lstStyle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"/>
                <a:sym typeface="Zizou Slab"/>
              </a:rPr>
              <a:t>SI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"/>
                <a:sym typeface="Zizou Slab"/>
              </a:rPr>
              <a:t>705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"/>
                <a:sym typeface="Zizou Slab"/>
              </a:rPr>
              <a:t> | 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"/>
                <a:sym typeface="Zizou Slab"/>
              </a:rPr>
              <a:t>Arquitectura de Aplicaciones Web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Zizou Slab"/>
              <a:sym typeface="Zizou Slab"/>
            </a:endParaRPr>
          </a:p>
        </p:txBody>
      </p:sp>
      <p:sp>
        <p:nvSpPr>
          <p:cNvPr id="123" name="UNIDAD 1 | IOS EXPERIENCES"/>
          <p:cNvSpPr txBox="1"/>
          <p:nvPr/>
        </p:nvSpPr>
        <p:spPr>
          <a:xfrm>
            <a:off x="654671" y="3044194"/>
            <a:ext cx="11693907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r">
              <a:defRPr b="0">
                <a:solidFill>
                  <a:srgbClr val="FFFFFF"/>
                </a:solidFill>
                <a:latin typeface="Zizou Slab Light"/>
                <a:ea typeface="Zizou Slab Light"/>
                <a:cs typeface="Zizou Slab Light"/>
                <a:sym typeface="Zizou Slab Light"/>
              </a:defRPr>
            </a:lvl1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 Light"/>
                <a:sym typeface="Zizou Slab Light"/>
              </a:rPr>
              <a:t>UNIDAD 1 | OVERVIEW &amp; DESARROLLO DE APIS ROBUSTAS CON FRAMEWORKS DE BACKEND</a:t>
            </a:r>
          </a:p>
        </p:txBody>
      </p:sp>
      <p:sp>
        <p:nvSpPr>
          <p:cNvPr id="125" name="PREGRADO"/>
          <p:cNvSpPr txBox="1"/>
          <p:nvPr/>
        </p:nvSpPr>
        <p:spPr>
          <a:xfrm>
            <a:off x="224042" y="601118"/>
            <a:ext cx="2216954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defRPr sz="3600" b="0">
                <a:solidFill>
                  <a:srgbClr val="FFFFFF"/>
                </a:solidFill>
                <a:latin typeface="Solano Gothic MVB Std Bold"/>
                <a:ea typeface="Solano Gothic MVB Std Bold"/>
                <a:cs typeface="Solano Gothic MVB Std Bold"/>
                <a:sym typeface="Solano Gothic MVB Std Bold"/>
              </a:defRPr>
            </a:lvl1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"/>
                <a:sym typeface="Solano Gothic MVB Std Bold"/>
              </a:rPr>
              <a:t>PREGRADO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2260" y="3539363"/>
            <a:ext cx="10914380" cy="2703830"/>
            <a:chOff x="1172260" y="3539363"/>
            <a:chExt cx="10914380" cy="27038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5600" y="3539363"/>
              <a:ext cx="10861040" cy="5090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9702" y="4087698"/>
              <a:ext cx="4889373" cy="5093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7973" y="4087698"/>
              <a:ext cx="1057275" cy="5093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14564" y="4087698"/>
              <a:ext cx="4319778" cy="5093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8177" y="4636897"/>
              <a:ext cx="2303272" cy="5090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28923" y="4636897"/>
              <a:ext cx="1550415" cy="5090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85537" y="4636897"/>
              <a:ext cx="1104900" cy="5090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69456" y="4636897"/>
              <a:ext cx="5582793" cy="5090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2260" y="5185536"/>
              <a:ext cx="8803386" cy="5090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88397" y="5185536"/>
              <a:ext cx="1893188" cy="5090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71147" y="5185536"/>
              <a:ext cx="611504" cy="5090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20850" y="5733872"/>
              <a:ext cx="5917184" cy="5093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47152" y="5733872"/>
              <a:ext cx="1057655" cy="50932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375649" y="5733872"/>
              <a:ext cx="3138424" cy="5093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2225" y="2627756"/>
            <a:ext cx="318770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5E5E5E"/>
                </a:solidFill>
              </a:rPr>
              <a:t>INTRO </a:t>
            </a:r>
            <a:r>
              <a:rPr spc="-10" dirty="0">
                <a:solidFill>
                  <a:srgbClr val="FF3300"/>
                </a:solidFill>
              </a:rPr>
              <a:t>ABSTRACTION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5E5E5E"/>
                </a:solidFill>
              </a:rPr>
              <a:t>ENCAPSULATION INHERITANCE POLYMORPHISM</a:t>
            </a:r>
          </a:p>
        </p:txBody>
      </p:sp>
      <p:sp>
        <p:nvSpPr>
          <p:cNvPr id="3" name="object 3"/>
          <p:cNvSpPr/>
          <p:nvPr/>
        </p:nvSpPr>
        <p:spPr>
          <a:xfrm>
            <a:off x="1028700" y="681227"/>
            <a:ext cx="1760220" cy="125095"/>
          </a:xfrm>
          <a:custGeom>
            <a:avLst/>
            <a:gdLst/>
            <a:ahLst/>
            <a:cxnLst/>
            <a:rect l="l" t="t" r="r" b="b"/>
            <a:pathLst>
              <a:path w="1760220" h="125095">
                <a:moveTo>
                  <a:pt x="1760220" y="0"/>
                </a:moveTo>
                <a:lnTo>
                  <a:pt x="0" y="0"/>
                </a:lnTo>
                <a:lnTo>
                  <a:pt x="0" y="124968"/>
                </a:lnTo>
                <a:lnTo>
                  <a:pt x="1760220" y="124968"/>
                </a:lnTo>
                <a:lnTo>
                  <a:pt x="17602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9707" y="1252855"/>
            <a:ext cx="27273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FF3300"/>
                </a:solidFill>
                <a:latin typeface="Calibri"/>
                <a:cs typeface="Calibri"/>
              </a:rPr>
              <a:t>Abstraction</a:t>
            </a:r>
            <a:endParaRPr sz="3600" b="1" dirty="0">
              <a:solidFill>
                <a:srgbClr val="FF3300"/>
              </a:solidFill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408" y="2375661"/>
            <a:ext cx="11476355" cy="5090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408" y="3198876"/>
            <a:ext cx="11423777" cy="5090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408" y="4021835"/>
            <a:ext cx="9713849" cy="5090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2408" y="4844491"/>
            <a:ext cx="2714625" cy="5093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19708" y="5354045"/>
            <a:ext cx="186055" cy="1671320"/>
          </a:xfrm>
          <a:prstGeom prst="rect">
            <a:avLst/>
          </a:prstGeom>
        </p:spPr>
        <p:txBody>
          <a:bodyPr vert="horz" wrap="square" lIns="0" tIns="286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5"/>
              </a:spcBef>
            </a:pPr>
            <a:r>
              <a:rPr sz="3600" spc="-50" dirty="0">
                <a:latin typeface="Arial MT"/>
                <a:cs typeface="Arial MT"/>
              </a:rPr>
              <a:t>•</a:t>
            </a: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600" spc="-50" dirty="0">
                <a:latin typeface="Arial MT"/>
                <a:cs typeface="Arial MT"/>
              </a:rPr>
              <a:t>•</a:t>
            </a:r>
            <a:endParaRPr sz="3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04238" y="5668009"/>
            <a:ext cx="3319779" cy="509270"/>
            <a:chOff x="1404238" y="5668009"/>
            <a:chExt cx="3319779" cy="50927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4238" y="5668009"/>
              <a:ext cx="1150315" cy="5090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62835" y="5668009"/>
              <a:ext cx="2361184" cy="50901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404238" y="6490665"/>
            <a:ext cx="3862704" cy="509905"/>
            <a:chOff x="1404238" y="6490665"/>
            <a:chExt cx="3862704" cy="509905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04238" y="6490665"/>
              <a:ext cx="1688719" cy="5093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05378" y="6490665"/>
              <a:ext cx="2361184" cy="5093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F3300"/>
                </a:solidFill>
              </a:rPr>
              <a:t>Data</a:t>
            </a:r>
            <a:r>
              <a:rPr b="1" spc="-5" dirty="0">
                <a:solidFill>
                  <a:srgbClr val="FF3300"/>
                </a:solidFill>
              </a:rPr>
              <a:t> </a:t>
            </a:r>
            <a:r>
              <a:rPr b="1" spc="-10" dirty="0">
                <a:solidFill>
                  <a:srgbClr val="FF3300"/>
                </a:solidFill>
              </a:rPr>
              <a:t>Abstraction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408" y="2375661"/>
            <a:ext cx="11502898" cy="5090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40000" y="4114800"/>
            <a:ext cx="7620000" cy="2598147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2800" spc="-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095286"/>
                </a:solidFill>
                <a:latin typeface="Courier New"/>
                <a:cs typeface="Courier New"/>
              </a:rPr>
              <a:t>class</a:t>
            </a:r>
            <a:r>
              <a:rPr sz="2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1D1D1D"/>
                </a:solidFill>
                <a:latin typeface="Courier New"/>
                <a:cs typeface="Courier New"/>
              </a:rPr>
              <a:t>Employee</a:t>
            </a:r>
            <a:r>
              <a:rPr sz="2800" spc="2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2800" dirty="0">
              <a:latin typeface="Courier New"/>
              <a:cs typeface="Courier New"/>
            </a:endParaRPr>
          </a:p>
          <a:p>
            <a:pPr marL="563880" marR="5080">
              <a:lnSpc>
                <a:spcPct val="100000"/>
              </a:lnSpc>
            </a:pPr>
            <a:r>
              <a:rPr sz="2800" dirty="0">
                <a:solidFill>
                  <a:srgbClr val="095286"/>
                </a:solidFill>
                <a:latin typeface="Courier New"/>
                <a:cs typeface="Courier New"/>
              </a:rPr>
              <a:t>private</a:t>
            </a:r>
            <a:r>
              <a:rPr sz="2800" spc="2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1D1D1D"/>
                </a:solidFill>
                <a:latin typeface="Courier New"/>
                <a:cs typeface="Courier New"/>
              </a:rPr>
              <a:t>Department</a:t>
            </a:r>
            <a:r>
              <a:rPr sz="28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1D1D1D"/>
                </a:solidFill>
                <a:latin typeface="Courier New"/>
                <a:cs typeface="Courier New"/>
              </a:rPr>
              <a:t>department; </a:t>
            </a:r>
            <a:endParaRPr lang="es-PE" sz="2800" spc="-10" dirty="0">
              <a:solidFill>
                <a:srgbClr val="1D1D1D"/>
              </a:solidFill>
              <a:latin typeface="Courier New"/>
              <a:cs typeface="Courier New"/>
            </a:endParaRPr>
          </a:p>
          <a:p>
            <a:pPr marL="563880" marR="5080">
              <a:lnSpc>
                <a:spcPct val="100000"/>
              </a:lnSpc>
            </a:pPr>
            <a:r>
              <a:rPr sz="2800" dirty="0">
                <a:solidFill>
                  <a:srgbClr val="095286"/>
                </a:solidFill>
                <a:latin typeface="Courier New"/>
                <a:cs typeface="Courier New"/>
              </a:rPr>
              <a:t>private</a:t>
            </a:r>
            <a:r>
              <a:rPr sz="2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1D1D1D"/>
                </a:solidFill>
                <a:latin typeface="Courier New"/>
                <a:cs typeface="Courier New"/>
              </a:rPr>
              <a:t>Address</a:t>
            </a:r>
            <a:r>
              <a:rPr sz="2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1D1D1D"/>
                </a:solidFill>
                <a:latin typeface="Courier New"/>
                <a:cs typeface="Courier New"/>
              </a:rPr>
              <a:t>address; </a:t>
            </a:r>
            <a:endParaRPr lang="es-PE" sz="2800" spc="-10" dirty="0">
              <a:solidFill>
                <a:srgbClr val="1D1D1D"/>
              </a:solidFill>
              <a:latin typeface="Courier New"/>
              <a:cs typeface="Courier New"/>
            </a:endParaRPr>
          </a:p>
          <a:p>
            <a:pPr marL="563880" marR="5080">
              <a:lnSpc>
                <a:spcPct val="100000"/>
              </a:lnSpc>
            </a:pPr>
            <a:r>
              <a:rPr sz="2800" dirty="0">
                <a:solidFill>
                  <a:srgbClr val="095286"/>
                </a:solidFill>
                <a:latin typeface="Courier New"/>
                <a:cs typeface="Courier New"/>
              </a:rPr>
              <a:t>private</a:t>
            </a:r>
            <a:r>
              <a:rPr sz="2800"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1D1D1D"/>
                </a:solidFill>
                <a:latin typeface="Courier New"/>
                <a:cs typeface="Courier New"/>
              </a:rPr>
              <a:t>Education</a:t>
            </a:r>
            <a:r>
              <a:rPr sz="2800" spc="2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1D1D1D"/>
                </a:solidFill>
                <a:latin typeface="Courier New"/>
                <a:cs typeface="Courier New"/>
              </a:rPr>
              <a:t>education;</a:t>
            </a:r>
            <a:endParaRPr sz="2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2800" dirty="0">
                <a:solidFill>
                  <a:srgbClr val="0E7100"/>
                </a:solidFill>
                <a:latin typeface="Courier New"/>
                <a:cs typeface="Courier New"/>
              </a:rPr>
              <a:t>//So</a:t>
            </a:r>
            <a:r>
              <a:rPr sz="2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0E7100"/>
                </a:solidFill>
                <a:latin typeface="Courier New"/>
                <a:cs typeface="Courier New"/>
              </a:rPr>
              <a:t>on...</a:t>
            </a:r>
            <a:endParaRPr sz="2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2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F3300"/>
                </a:solidFill>
              </a:rPr>
              <a:t>Control</a:t>
            </a:r>
            <a:r>
              <a:rPr b="1" spc="-85" dirty="0">
                <a:solidFill>
                  <a:srgbClr val="FF3300"/>
                </a:solidFill>
              </a:rPr>
              <a:t> </a:t>
            </a:r>
            <a:r>
              <a:rPr b="1" spc="-10" dirty="0">
                <a:solidFill>
                  <a:srgbClr val="FF3300"/>
                </a:solidFill>
              </a:rPr>
              <a:t>Abstraction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408" y="2375661"/>
            <a:ext cx="10599420" cy="5090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408" y="3198876"/>
            <a:ext cx="10129266" cy="5090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72913" y="4410460"/>
            <a:ext cx="9622550" cy="2967479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2400" spc="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95286"/>
                </a:solidFill>
                <a:latin typeface="Courier New"/>
                <a:cs typeface="Courier New"/>
              </a:rPr>
              <a:t>class</a:t>
            </a:r>
            <a:r>
              <a:rPr sz="24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1D1D1D"/>
                </a:solidFill>
                <a:latin typeface="Courier New"/>
                <a:cs typeface="Courier New"/>
              </a:rPr>
              <a:t>EmployeeManager</a:t>
            </a:r>
            <a:r>
              <a:rPr sz="2400" spc="2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4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24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2400"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1D1D1D"/>
                </a:solidFill>
                <a:latin typeface="Courier New"/>
                <a:cs typeface="Courier New"/>
              </a:rPr>
              <a:t>Address</a:t>
            </a:r>
            <a:r>
              <a:rPr sz="24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1D1D1D"/>
                </a:solidFill>
                <a:latin typeface="Courier New"/>
                <a:cs typeface="Courier New"/>
              </a:rPr>
              <a:t>getPrefferedAddress(Employee</a:t>
            </a:r>
            <a:r>
              <a:rPr sz="24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400" spc="-25" dirty="0">
                <a:solidFill>
                  <a:srgbClr val="1D1D1D"/>
                </a:solidFill>
                <a:latin typeface="Courier New"/>
                <a:cs typeface="Courier New"/>
              </a:rPr>
              <a:t>e){</a:t>
            </a:r>
            <a:endParaRPr sz="2400" dirty="0">
              <a:latin typeface="Courier New"/>
              <a:cs typeface="Courier New"/>
            </a:endParaRPr>
          </a:p>
          <a:p>
            <a:pPr marL="1117600">
              <a:lnSpc>
                <a:spcPct val="100000"/>
              </a:lnSpc>
            </a:pPr>
            <a:r>
              <a:rPr sz="2400" dirty="0">
                <a:solidFill>
                  <a:srgbClr val="0E7100"/>
                </a:solidFill>
                <a:latin typeface="Courier New"/>
                <a:cs typeface="Courier New"/>
              </a:rPr>
              <a:t>//Get all addresses</a:t>
            </a:r>
            <a:r>
              <a:rPr sz="24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E7100"/>
                </a:solidFill>
                <a:latin typeface="Courier New"/>
                <a:cs typeface="Courier New"/>
              </a:rPr>
              <a:t>from</a:t>
            </a:r>
            <a:r>
              <a:rPr sz="2400" spc="1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0E7100"/>
                </a:solidFill>
                <a:latin typeface="Courier New"/>
                <a:cs typeface="Courier New"/>
              </a:rPr>
              <a:t>database</a:t>
            </a:r>
            <a:endParaRPr sz="2400" dirty="0">
              <a:latin typeface="Courier New"/>
              <a:cs typeface="Courier New"/>
            </a:endParaRPr>
          </a:p>
          <a:p>
            <a:pPr marL="1117600">
              <a:lnSpc>
                <a:spcPct val="100000"/>
              </a:lnSpc>
            </a:pPr>
            <a:r>
              <a:rPr sz="2400" dirty="0">
                <a:solidFill>
                  <a:srgbClr val="0E7100"/>
                </a:solidFill>
                <a:latin typeface="Courier New"/>
                <a:cs typeface="Courier New"/>
              </a:rPr>
              <a:t>//Apply logic</a:t>
            </a:r>
            <a:r>
              <a:rPr sz="24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E7100"/>
                </a:solidFill>
                <a:latin typeface="Courier New"/>
                <a:cs typeface="Courier New"/>
              </a:rPr>
              <a:t>to</a:t>
            </a:r>
            <a:r>
              <a:rPr sz="2400" spc="-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E7100"/>
                </a:solidFill>
                <a:latin typeface="Courier New"/>
                <a:cs typeface="Courier New"/>
              </a:rPr>
              <a:t>determine</a:t>
            </a:r>
            <a:r>
              <a:rPr sz="2400" spc="-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E7100"/>
                </a:solidFill>
                <a:latin typeface="Courier New"/>
                <a:cs typeface="Courier New"/>
              </a:rPr>
              <a:t>which</a:t>
            </a:r>
            <a:r>
              <a:rPr sz="24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E7100"/>
                </a:solidFill>
                <a:latin typeface="Courier New"/>
                <a:cs typeface="Courier New"/>
              </a:rPr>
              <a:t>address</a:t>
            </a:r>
            <a:r>
              <a:rPr sz="24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E7100"/>
                </a:solidFill>
                <a:latin typeface="Courier New"/>
                <a:cs typeface="Courier New"/>
              </a:rPr>
              <a:t>is</a:t>
            </a:r>
            <a:r>
              <a:rPr sz="24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0E7100"/>
                </a:solidFill>
                <a:latin typeface="Courier New"/>
                <a:cs typeface="Courier New"/>
              </a:rPr>
              <a:t>preferred</a:t>
            </a:r>
            <a:endParaRPr sz="2400" dirty="0">
              <a:latin typeface="Courier New"/>
              <a:cs typeface="Courier New"/>
            </a:endParaRPr>
          </a:p>
          <a:p>
            <a:pPr marL="1117600">
              <a:lnSpc>
                <a:spcPct val="100000"/>
              </a:lnSpc>
            </a:pPr>
            <a:r>
              <a:rPr sz="2400" dirty="0">
                <a:solidFill>
                  <a:srgbClr val="0E7100"/>
                </a:solidFill>
                <a:latin typeface="Courier New"/>
                <a:cs typeface="Courier New"/>
              </a:rPr>
              <a:t>//Return </a:t>
            </a:r>
            <a:r>
              <a:rPr sz="2400" spc="-10" dirty="0">
                <a:solidFill>
                  <a:srgbClr val="0E7100"/>
                </a:solidFill>
                <a:latin typeface="Courier New"/>
                <a:cs typeface="Courier New"/>
              </a:rPr>
              <a:t>address</a:t>
            </a:r>
            <a:endParaRPr sz="24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24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2225" y="2627756"/>
            <a:ext cx="318770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5E5E5E"/>
                </a:solidFill>
              </a:rPr>
              <a:t>INTRO ABSTRACTION </a:t>
            </a:r>
            <a:r>
              <a:rPr spc="-10" dirty="0">
                <a:solidFill>
                  <a:srgbClr val="FF3300"/>
                </a:solidFill>
              </a:rPr>
              <a:t>ENCAPSULATION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5E5E5E"/>
                </a:solidFill>
              </a:rPr>
              <a:t>INHERITANCE POLYMORPHISM</a:t>
            </a:r>
          </a:p>
        </p:txBody>
      </p:sp>
      <p:sp>
        <p:nvSpPr>
          <p:cNvPr id="3" name="object 3"/>
          <p:cNvSpPr/>
          <p:nvPr/>
        </p:nvSpPr>
        <p:spPr>
          <a:xfrm>
            <a:off x="1028700" y="681227"/>
            <a:ext cx="1760220" cy="125095"/>
          </a:xfrm>
          <a:custGeom>
            <a:avLst/>
            <a:gdLst/>
            <a:ahLst/>
            <a:cxnLst/>
            <a:rect l="l" t="t" r="r" b="b"/>
            <a:pathLst>
              <a:path w="1760220" h="125095">
                <a:moveTo>
                  <a:pt x="1760220" y="0"/>
                </a:moveTo>
                <a:lnTo>
                  <a:pt x="0" y="0"/>
                </a:lnTo>
                <a:lnTo>
                  <a:pt x="0" y="124968"/>
                </a:lnTo>
                <a:lnTo>
                  <a:pt x="1760220" y="124968"/>
                </a:lnTo>
                <a:lnTo>
                  <a:pt x="17602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9708" y="1252855"/>
            <a:ext cx="347289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FF3300"/>
                </a:solidFill>
                <a:latin typeface="Calibri"/>
                <a:cs typeface="Calibri"/>
              </a:rPr>
              <a:t>Encapsulation</a:t>
            </a:r>
            <a:endParaRPr sz="4000" b="1" dirty="0">
              <a:solidFill>
                <a:srgbClr val="FF3300"/>
              </a:solidFill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408" y="2375661"/>
            <a:ext cx="10656824" cy="5090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408" y="3198876"/>
            <a:ext cx="4819142" cy="5090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408" y="4021835"/>
            <a:ext cx="1642745" cy="50901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19708" y="4529663"/>
            <a:ext cx="186055" cy="1672589"/>
          </a:xfrm>
          <a:prstGeom prst="rect">
            <a:avLst/>
          </a:prstGeom>
        </p:spPr>
        <p:txBody>
          <a:bodyPr vert="horz" wrap="square" lIns="0" tIns="287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65"/>
              </a:spcBef>
            </a:pPr>
            <a:r>
              <a:rPr sz="3600" spc="-50" dirty="0">
                <a:latin typeface="Arial MT"/>
                <a:cs typeface="Arial MT"/>
              </a:rPr>
              <a:t>•</a:t>
            </a: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600" spc="-50" dirty="0">
                <a:latin typeface="Arial MT"/>
                <a:cs typeface="Arial MT"/>
              </a:rPr>
              <a:t>•</a:t>
            </a:r>
            <a:endParaRPr sz="36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04238" y="4844491"/>
            <a:ext cx="3817620" cy="509905"/>
            <a:chOff x="1404238" y="4844491"/>
            <a:chExt cx="3817620" cy="50990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4238" y="4844491"/>
              <a:ext cx="2485898" cy="5093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62121" y="4844491"/>
              <a:ext cx="1459738" cy="50932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404238" y="5668009"/>
            <a:ext cx="4617720" cy="509270"/>
            <a:chOff x="1404238" y="5668009"/>
            <a:chExt cx="4617720" cy="50927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04238" y="5668009"/>
              <a:ext cx="3293745" cy="5090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2221" y="5668009"/>
              <a:ext cx="1459738" cy="5090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708" y="1252855"/>
            <a:ext cx="53644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FF3300"/>
                </a:solidFill>
              </a:rPr>
              <a:t>Information</a:t>
            </a:r>
            <a:r>
              <a:rPr sz="4000" b="1" spc="-70" dirty="0">
                <a:solidFill>
                  <a:srgbClr val="FF3300"/>
                </a:solidFill>
              </a:rPr>
              <a:t> </a:t>
            </a:r>
            <a:r>
              <a:rPr sz="4000" b="1" spc="-10" dirty="0">
                <a:solidFill>
                  <a:srgbClr val="FF3300"/>
                </a:solidFill>
              </a:rPr>
              <a:t>hiding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408" y="2375661"/>
            <a:ext cx="10288143" cy="50901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32408" y="3198876"/>
            <a:ext cx="5473065" cy="509270"/>
            <a:chOff x="832408" y="3198876"/>
            <a:chExt cx="5473065" cy="5092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2408" y="3198876"/>
              <a:ext cx="252984" cy="5090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900" y="3198876"/>
              <a:ext cx="1488567" cy="5090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34819" y="3198876"/>
              <a:ext cx="249174" cy="5090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0934" y="3198876"/>
              <a:ext cx="1654937" cy="5090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48988" y="3198876"/>
              <a:ext cx="249174" cy="5090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15105" y="3198876"/>
              <a:ext cx="2196592" cy="5090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2113" y="3198876"/>
              <a:ext cx="313182" cy="50901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60552" y="4441952"/>
            <a:ext cx="11485880" cy="3411190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95286"/>
                </a:solidFill>
                <a:latin typeface="Courier New"/>
                <a:cs typeface="Courier New"/>
              </a:rPr>
              <a:t>class </a:t>
            </a:r>
            <a:r>
              <a:rPr sz="2000" spc="-10" dirty="0">
                <a:solidFill>
                  <a:srgbClr val="1D1D1D"/>
                </a:solidFill>
                <a:latin typeface="Courier New"/>
                <a:cs typeface="Courier New"/>
              </a:rPr>
              <a:t>InformationHiding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20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//Restrict</a:t>
            </a:r>
            <a:r>
              <a:rPr sz="2000" spc="-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direct access</a:t>
            </a:r>
            <a:r>
              <a:rPr sz="2000" spc="-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to</a:t>
            </a:r>
            <a:r>
              <a:rPr sz="2000" spc="-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inward</a:t>
            </a:r>
            <a:r>
              <a:rPr sz="20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E7100"/>
                </a:solidFill>
                <a:latin typeface="Courier New"/>
                <a:cs typeface="Courier New"/>
              </a:rPr>
              <a:t>data</a:t>
            </a:r>
            <a:endParaRPr sz="20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2000" dirty="0">
                <a:solidFill>
                  <a:srgbClr val="095286"/>
                </a:solidFill>
                <a:latin typeface="Courier New"/>
                <a:cs typeface="Courier New"/>
              </a:rPr>
              <a:t>private </a:t>
            </a:r>
            <a:r>
              <a:rPr sz="2000" dirty="0">
                <a:solidFill>
                  <a:srgbClr val="1D1D1D"/>
                </a:solidFill>
                <a:latin typeface="Courier New"/>
                <a:cs typeface="Courier New"/>
              </a:rPr>
              <a:t>ArrayList</a:t>
            </a:r>
            <a:r>
              <a:rPr sz="20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1D1D1D"/>
                </a:solidFill>
                <a:latin typeface="Courier New"/>
                <a:cs typeface="Courier New"/>
              </a:rPr>
              <a:t>items</a:t>
            </a:r>
            <a:r>
              <a:rPr sz="20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1D1D1D"/>
                </a:solidFill>
                <a:latin typeface="Courier New"/>
                <a:cs typeface="Courier New"/>
              </a:rPr>
              <a:t>=</a:t>
            </a:r>
            <a:r>
              <a:rPr sz="2000" spc="2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95286"/>
                </a:solidFill>
                <a:latin typeface="Courier New"/>
                <a:cs typeface="Courier New"/>
              </a:rPr>
              <a:t>new</a:t>
            </a:r>
            <a:r>
              <a:rPr sz="2000" spc="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1D1D1D"/>
                </a:solidFill>
                <a:latin typeface="Courier New"/>
                <a:cs typeface="Courier New"/>
              </a:rPr>
              <a:t>ArrayList();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000" dirty="0">
              <a:latin typeface="Courier New"/>
              <a:cs typeface="Courier New"/>
            </a:endParaRPr>
          </a:p>
          <a:p>
            <a:pPr marL="563880" marR="5080">
              <a:lnSpc>
                <a:spcPct val="100000"/>
              </a:lnSpc>
            </a:pP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//Provide</a:t>
            </a:r>
            <a:r>
              <a:rPr sz="2000" spc="-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a</a:t>
            </a:r>
            <a:r>
              <a:rPr sz="20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way</a:t>
            </a:r>
            <a:r>
              <a:rPr sz="20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to</a:t>
            </a:r>
            <a:r>
              <a:rPr sz="20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access</a:t>
            </a:r>
            <a:r>
              <a:rPr sz="20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data</a:t>
            </a:r>
            <a:r>
              <a:rPr sz="2000" spc="3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-</a:t>
            </a:r>
            <a:r>
              <a:rPr sz="20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internal</a:t>
            </a:r>
            <a:r>
              <a:rPr sz="2000" spc="-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logic</a:t>
            </a:r>
            <a:r>
              <a:rPr sz="20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can</a:t>
            </a:r>
            <a:r>
              <a:rPr sz="20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safely</a:t>
            </a:r>
            <a:r>
              <a:rPr sz="20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be</a:t>
            </a:r>
            <a:r>
              <a:rPr sz="20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changed</a:t>
            </a:r>
            <a:r>
              <a:rPr sz="20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E7100"/>
                </a:solidFill>
                <a:latin typeface="Courier New"/>
                <a:cs typeface="Courier New"/>
              </a:rPr>
              <a:t>in</a:t>
            </a:r>
            <a:r>
              <a:rPr sz="20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E7100"/>
                </a:solidFill>
                <a:latin typeface="Courier New"/>
                <a:cs typeface="Courier New"/>
              </a:rPr>
              <a:t>future </a:t>
            </a:r>
            <a:endParaRPr lang="es-PE" sz="2000" spc="-10" dirty="0">
              <a:solidFill>
                <a:srgbClr val="0E7100"/>
              </a:solidFill>
              <a:latin typeface="Courier New"/>
              <a:cs typeface="Courier New"/>
            </a:endParaRPr>
          </a:p>
          <a:p>
            <a:pPr marL="563880" marR="5080">
              <a:lnSpc>
                <a:spcPct val="100000"/>
              </a:lnSpc>
            </a:pPr>
            <a:r>
              <a:rPr sz="20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2000"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1D1D1D"/>
                </a:solidFill>
                <a:latin typeface="Courier New"/>
                <a:cs typeface="Courier New"/>
              </a:rPr>
              <a:t>ArrayList</a:t>
            </a:r>
            <a:r>
              <a:rPr sz="20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1D1D1D"/>
                </a:solidFill>
                <a:latin typeface="Courier New"/>
                <a:cs typeface="Courier New"/>
              </a:rPr>
              <a:t>getItems(){</a:t>
            </a:r>
            <a:endParaRPr sz="2000" dirty="0">
              <a:latin typeface="Courier New"/>
              <a:cs typeface="Courier New"/>
            </a:endParaRPr>
          </a:p>
          <a:p>
            <a:pPr marL="1116965">
              <a:lnSpc>
                <a:spcPct val="100000"/>
              </a:lnSpc>
            </a:pPr>
            <a:r>
              <a:rPr sz="2000" dirty="0">
                <a:solidFill>
                  <a:srgbClr val="095286"/>
                </a:solidFill>
                <a:latin typeface="Courier New"/>
                <a:cs typeface="Courier New"/>
              </a:rPr>
              <a:t>return</a:t>
            </a:r>
            <a:r>
              <a:rPr sz="2000" spc="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1D1D1D"/>
                </a:solidFill>
                <a:latin typeface="Courier New"/>
                <a:cs typeface="Courier New"/>
              </a:rPr>
              <a:t>items;</a:t>
            </a:r>
            <a:endParaRPr sz="20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20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spc="-114" dirty="0"/>
              <a:t> </a:t>
            </a:r>
            <a:r>
              <a:rPr spc="-10" dirty="0"/>
              <a:t>hiding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408" y="2375661"/>
            <a:ext cx="11259947" cy="5090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408" y="3198876"/>
            <a:ext cx="11457813" cy="5090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7237" y="4036314"/>
            <a:ext cx="11485880" cy="5238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interface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ImplementationHiding</a:t>
            </a:r>
            <a:r>
              <a:rPr sz="18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Integer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sumAllItems(ArrayList</a:t>
            </a:r>
            <a:r>
              <a:rPr sz="1800" spc="2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D1D1D"/>
                </a:solidFill>
                <a:latin typeface="Courier New"/>
                <a:cs typeface="Courier New"/>
              </a:rPr>
              <a:t>items);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class</a:t>
            </a:r>
            <a:r>
              <a:rPr sz="1800" spc="-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InformationHiding</a:t>
            </a:r>
            <a:r>
              <a:rPr sz="1800" spc="2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implements</a:t>
            </a:r>
            <a:r>
              <a:rPr sz="1800"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D1D1D"/>
                </a:solidFill>
                <a:latin typeface="Courier New"/>
                <a:cs typeface="Courier New"/>
              </a:rPr>
              <a:t>ImplementationHiding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//Restrict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direct access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to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inward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0E7100"/>
                </a:solidFill>
                <a:latin typeface="Courier New"/>
                <a:cs typeface="Courier New"/>
              </a:rPr>
              <a:t>data</a:t>
            </a:r>
            <a:endParaRPr sz="180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private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ArrayList</a:t>
            </a:r>
            <a:r>
              <a:rPr sz="18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items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=</a:t>
            </a:r>
            <a:r>
              <a:rPr sz="18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new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D1D1D"/>
                </a:solidFill>
                <a:latin typeface="Courier New"/>
                <a:cs typeface="Courier New"/>
              </a:rPr>
              <a:t>ArrayList();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Courier New"/>
              <a:cs typeface="Courier New"/>
            </a:endParaRPr>
          </a:p>
          <a:p>
            <a:pPr marL="563880" marR="5080">
              <a:lnSpc>
                <a:spcPct val="100000"/>
              </a:lnSpc>
            </a:pP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//Provide</a:t>
            </a:r>
            <a:r>
              <a:rPr sz="1800" spc="-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a</a:t>
            </a:r>
            <a:r>
              <a:rPr sz="18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way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to</a:t>
            </a:r>
            <a:r>
              <a:rPr sz="18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access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data</a:t>
            </a:r>
            <a:r>
              <a:rPr sz="1800" spc="3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-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internal</a:t>
            </a:r>
            <a:r>
              <a:rPr sz="1800" spc="-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logic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can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safely</a:t>
            </a:r>
            <a:r>
              <a:rPr sz="18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be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changed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in</a:t>
            </a:r>
            <a:r>
              <a:rPr sz="18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future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1800"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ArrayList</a:t>
            </a:r>
            <a:r>
              <a:rPr sz="18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D1D1D"/>
                </a:solidFill>
                <a:latin typeface="Courier New"/>
                <a:cs typeface="Courier New"/>
              </a:rPr>
              <a:t>getItems(){</a:t>
            </a:r>
            <a:endParaRPr sz="1800">
              <a:latin typeface="Courier New"/>
              <a:cs typeface="Courier New"/>
            </a:endParaRPr>
          </a:p>
          <a:p>
            <a:pPr marL="1117600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return</a:t>
            </a:r>
            <a:r>
              <a:rPr sz="1800" spc="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D1D1D"/>
                </a:solidFill>
                <a:latin typeface="Courier New"/>
                <a:cs typeface="Courier New"/>
              </a:rPr>
              <a:t>items;</a:t>
            </a:r>
            <a:endParaRPr sz="180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80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1800" spc="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Integer</a:t>
            </a:r>
            <a:r>
              <a:rPr sz="18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sumAllItems(ArrayList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items)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117600">
              <a:lnSpc>
                <a:spcPct val="100000"/>
              </a:lnSpc>
            </a:pP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//You</a:t>
            </a:r>
            <a:r>
              <a:rPr sz="1800" spc="-1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can change the sequence</a:t>
            </a:r>
            <a:r>
              <a:rPr sz="1800" spc="1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or</a:t>
            </a:r>
            <a:r>
              <a:rPr sz="18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even whole</a:t>
            </a:r>
            <a:r>
              <a:rPr sz="18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implementation</a:t>
            </a:r>
            <a:r>
              <a:rPr sz="18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logic</a:t>
            </a:r>
            <a:endParaRPr sz="1800">
              <a:latin typeface="Courier New"/>
              <a:cs typeface="Courier New"/>
            </a:endParaRPr>
          </a:p>
          <a:p>
            <a:pPr marL="1117600">
              <a:lnSpc>
                <a:spcPct val="100000"/>
              </a:lnSpc>
            </a:pP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//without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affecting</a:t>
            </a:r>
            <a:r>
              <a:rPr sz="18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the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client</a:t>
            </a:r>
            <a:endParaRPr sz="180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2225" y="2627756"/>
            <a:ext cx="318770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5E5E5E"/>
                </a:solidFill>
              </a:rPr>
              <a:t>INTRO ABSTRACTION ENCAPSULATION </a:t>
            </a:r>
            <a:r>
              <a:rPr spc="-10" dirty="0">
                <a:solidFill>
                  <a:srgbClr val="FF3300"/>
                </a:solidFill>
              </a:rPr>
              <a:t>INHERITANCE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5E5E5E"/>
                </a:solidFill>
              </a:rPr>
              <a:t>POLYMORPHISM</a:t>
            </a:r>
          </a:p>
        </p:txBody>
      </p:sp>
      <p:sp>
        <p:nvSpPr>
          <p:cNvPr id="3" name="object 3"/>
          <p:cNvSpPr/>
          <p:nvPr/>
        </p:nvSpPr>
        <p:spPr>
          <a:xfrm>
            <a:off x="1028700" y="681227"/>
            <a:ext cx="1760220" cy="125095"/>
          </a:xfrm>
          <a:custGeom>
            <a:avLst/>
            <a:gdLst/>
            <a:ahLst/>
            <a:cxnLst/>
            <a:rect l="l" t="t" r="r" b="b"/>
            <a:pathLst>
              <a:path w="1760220" h="125095">
                <a:moveTo>
                  <a:pt x="1760220" y="0"/>
                </a:moveTo>
                <a:lnTo>
                  <a:pt x="0" y="0"/>
                </a:lnTo>
                <a:lnTo>
                  <a:pt x="0" y="124968"/>
                </a:lnTo>
                <a:lnTo>
                  <a:pt x="1760220" y="124968"/>
                </a:lnTo>
                <a:lnTo>
                  <a:pt x="17602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708" y="1252855"/>
            <a:ext cx="53644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/>
              <a:t>Inheritance</a:t>
            </a:r>
            <a:endParaRPr b="1"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832408" y="2375661"/>
            <a:ext cx="11273790" cy="509270"/>
            <a:chOff x="832408" y="2375661"/>
            <a:chExt cx="11273790" cy="509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408" y="2375661"/>
              <a:ext cx="4073525" cy="5090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0716" y="2375661"/>
              <a:ext cx="1474342" cy="5090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84493" y="2375661"/>
              <a:ext cx="231648" cy="50901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00317" y="2375661"/>
              <a:ext cx="1133856" cy="5090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5198" y="2375661"/>
              <a:ext cx="1604645" cy="5090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03920" y="2375661"/>
              <a:ext cx="1842770" cy="50901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98607" y="2375661"/>
              <a:ext cx="1907540" cy="50901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867642" y="2375661"/>
              <a:ext cx="164592" cy="50901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835400" y="3505200"/>
            <a:ext cx="5135245" cy="5183470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95286"/>
                </a:solidFill>
                <a:latin typeface="Courier New"/>
                <a:cs typeface="Courier New"/>
              </a:rPr>
              <a:t>class</a:t>
            </a:r>
            <a:r>
              <a:rPr sz="2400" spc="-2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1D1D1D"/>
                </a:solidFill>
                <a:latin typeface="Courier New"/>
                <a:cs typeface="Courier New"/>
              </a:rPr>
              <a:t>Employee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563880" marR="415925">
              <a:lnSpc>
                <a:spcPct val="100000"/>
              </a:lnSpc>
            </a:pPr>
            <a:r>
              <a:rPr sz="2400" dirty="0">
                <a:solidFill>
                  <a:srgbClr val="095286"/>
                </a:solidFill>
                <a:latin typeface="Courier New"/>
                <a:cs typeface="Courier New"/>
              </a:rPr>
              <a:t>private</a:t>
            </a:r>
            <a:r>
              <a:rPr sz="2400" spc="2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1D1D1D"/>
                </a:solidFill>
                <a:latin typeface="Courier New"/>
                <a:cs typeface="Courier New"/>
              </a:rPr>
              <a:t>Department</a:t>
            </a:r>
            <a:r>
              <a:rPr sz="24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1D1D1D"/>
                </a:solidFill>
                <a:latin typeface="Courier New"/>
                <a:cs typeface="Courier New"/>
              </a:rPr>
              <a:t>department; </a:t>
            </a:r>
            <a:r>
              <a:rPr sz="2400" dirty="0">
                <a:solidFill>
                  <a:srgbClr val="095286"/>
                </a:solidFill>
                <a:latin typeface="Courier New"/>
                <a:cs typeface="Courier New"/>
              </a:rPr>
              <a:t>private</a:t>
            </a:r>
            <a:r>
              <a:rPr sz="2400"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1D1D1D"/>
                </a:solidFill>
                <a:latin typeface="Courier New"/>
                <a:cs typeface="Courier New"/>
              </a:rPr>
              <a:t>Address</a:t>
            </a:r>
            <a:r>
              <a:rPr sz="24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1D1D1D"/>
                </a:solidFill>
                <a:latin typeface="Courier New"/>
                <a:cs typeface="Courier New"/>
              </a:rPr>
              <a:t>address; </a:t>
            </a:r>
            <a:r>
              <a:rPr sz="2400" dirty="0">
                <a:solidFill>
                  <a:srgbClr val="095286"/>
                </a:solidFill>
                <a:latin typeface="Courier New"/>
                <a:cs typeface="Courier New"/>
              </a:rPr>
              <a:t>private</a:t>
            </a:r>
            <a:r>
              <a:rPr sz="2400"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1D1D1D"/>
                </a:solidFill>
                <a:latin typeface="Courier New"/>
                <a:cs typeface="Courier New"/>
              </a:rPr>
              <a:t>Education</a:t>
            </a:r>
            <a:r>
              <a:rPr sz="2400" spc="2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1D1D1D"/>
                </a:solidFill>
                <a:latin typeface="Courier New"/>
                <a:cs typeface="Courier New"/>
              </a:rPr>
              <a:t>education;</a:t>
            </a:r>
            <a:endParaRPr sz="24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2400" dirty="0">
                <a:solidFill>
                  <a:srgbClr val="0E7100"/>
                </a:solidFill>
                <a:latin typeface="Courier New"/>
                <a:cs typeface="Courier New"/>
              </a:rPr>
              <a:t>//So</a:t>
            </a:r>
            <a:r>
              <a:rPr sz="24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0E7100"/>
                </a:solidFill>
                <a:latin typeface="Courier New"/>
                <a:cs typeface="Courier New"/>
              </a:rPr>
              <a:t>on...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95286"/>
                </a:solidFill>
                <a:latin typeface="Courier New"/>
                <a:cs typeface="Courier New"/>
              </a:rPr>
              <a:t>class</a:t>
            </a:r>
            <a:r>
              <a:rPr sz="2400" spc="-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1D1D1D"/>
                </a:solidFill>
                <a:latin typeface="Courier New"/>
                <a:cs typeface="Courier New"/>
              </a:rPr>
              <a:t>Manager</a:t>
            </a:r>
            <a:r>
              <a:rPr sz="2400" spc="-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95286"/>
                </a:solidFill>
                <a:latin typeface="Courier New"/>
                <a:cs typeface="Courier New"/>
              </a:rPr>
              <a:t>extends</a:t>
            </a:r>
            <a:r>
              <a:rPr sz="2400" spc="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1D1D1D"/>
                </a:solidFill>
                <a:latin typeface="Courier New"/>
                <a:cs typeface="Courier New"/>
              </a:rPr>
              <a:t>Employee </a:t>
            </a:r>
            <a:r>
              <a:rPr sz="24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2400" dirty="0">
                <a:solidFill>
                  <a:srgbClr val="095286"/>
                </a:solidFill>
                <a:latin typeface="Courier New"/>
                <a:cs typeface="Courier New"/>
              </a:rPr>
              <a:t>private</a:t>
            </a:r>
            <a:r>
              <a:rPr sz="24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1D1D1D"/>
                </a:solidFill>
                <a:latin typeface="Courier New"/>
                <a:cs typeface="Courier New"/>
              </a:rPr>
              <a:t>List&lt;Employee&gt;</a:t>
            </a:r>
            <a:r>
              <a:rPr sz="24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1D1D1D"/>
                </a:solidFill>
                <a:latin typeface="Courier New"/>
                <a:cs typeface="Courier New"/>
              </a:rPr>
              <a:t>reportees;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2225" y="2627756"/>
            <a:ext cx="318770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5E5E5E"/>
                </a:solidFill>
              </a:rPr>
              <a:t>INTRO ABSTRACTION ENCAPSULATION INHERITANCE </a:t>
            </a:r>
            <a:r>
              <a:rPr spc="-10" dirty="0">
                <a:solidFill>
                  <a:srgbClr val="FF3300"/>
                </a:solidFill>
              </a:rPr>
              <a:t>POLYMORPHISM</a:t>
            </a:r>
          </a:p>
        </p:txBody>
      </p:sp>
      <p:sp>
        <p:nvSpPr>
          <p:cNvPr id="3" name="object 3"/>
          <p:cNvSpPr/>
          <p:nvPr/>
        </p:nvSpPr>
        <p:spPr>
          <a:xfrm>
            <a:off x="1028700" y="681227"/>
            <a:ext cx="1760220" cy="125095"/>
          </a:xfrm>
          <a:custGeom>
            <a:avLst/>
            <a:gdLst/>
            <a:ahLst/>
            <a:cxnLst/>
            <a:rect l="l" t="t" r="r" b="b"/>
            <a:pathLst>
              <a:path w="1760220" h="125095">
                <a:moveTo>
                  <a:pt x="1760220" y="0"/>
                </a:moveTo>
                <a:lnTo>
                  <a:pt x="0" y="0"/>
                </a:lnTo>
                <a:lnTo>
                  <a:pt x="0" y="124968"/>
                </a:lnTo>
                <a:lnTo>
                  <a:pt x="1760220" y="124968"/>
                </a:lnTo>
                <a:lnTo>
                  <a:pt x="17602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708" y="1252855"/>
            <a:ext cx="53644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FF3300"/>
                </a:solidFill>
              </a:rPr>
              <a:t>Polymorphism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408" y="2375661"/>
            <a:ext cx="11368024" cy="5090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408" y="3198876"/>
            <a:ext cx="9607169" cy="509015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54608" y="4145276"/>
          <a:ext cx="9177653" cy="540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8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19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0510">
                <a:tc>
                  <a:txBody>
                    <a:bodyPr/>
                    <a:lstStyle/>
                    <a:p>
                      <a:pPr marR="29209" algn="ctr">
                        <a:lnSpc>
                          <a:spcPts val="2030"/>
                        </a:lnSpc>
                      </a:pPr>
                      <a:r>
                        <a:rPr sz="1800" spc="-1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Object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0"/>
                        </a:lnSpc>
                      </a:pPr>
                      <a:r>
                        <a:rPr sz="180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800" spc="1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30"/>
                        </a:lnSpc>
                      </a:pPr>
                      <a:r>
                        <a:rPr sz="1800" spc="-25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0"/>
                        </a:lnSpc>
                      </a:pPr>
                      <a:r>
                        <a:rPr sz="1800" spc="-1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Object();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30"/>
                        </a:lnSpc>
                      </a:pPr>
                      <a:r>
                        <a:rPr sz="180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//o</a:t>
                      </a:r>
                      <a:r>
                        <a:rPr sz="1800" spc="-2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can</a:t>
                      </a:r>
                      <a:r>
                        <a:rPr sz="1800" spc="5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hold the</a:t>
                      </a:r>
                      <a:r>
                        <a:rPr sz="1800" spc="5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reference of</a:t>
                      </a:r>
                      <a:r>
                        <a:rPr sz="1800" spc="5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any</a:t>
                      </a:r>
                      <a:r>
                        <a:rPr sz="1800" spc="-5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subtype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R="29209" algn="ctr">
                        <a:lnSpc>
                          <a:spcPts val="2030"/>
                        </a:lnSpc>
                      </a:pPr>
                      <a:r>
                        <a:rPr sz="1800" spc="-1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Object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0"/>
                        </a:lnSpc>
                      </a:pPr>
                      <a:r>
                        <a:rPr sz="180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800" spc="1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0"/>
                        </a:lnSpc>
                      </a:pPr>
                      <a:r>
                        <a:rPr sz="1800" spc="-25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0"/>
                        </a:lnSpc>
                      </a:pPr>
                      <a:r>
                        <a:rPr sz="1800" spc="-1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String();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30"/>
                        </a:lnSpc>
                      </a:pPr>
                      <a:r>
                        <a:rPr sz="180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//String</a:t>
                      </a:r>
                      <a:r>
                        <a:rPr sz="1800" spc="1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1800" spc="1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spc="1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subclass</a:t>
                      </a:r>
                      <a:r>
                        <a:rPr sz="1800" spc="1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of Object </a:t>
                      </a:r>
                      <a:r>
                        <a:rPr sz="1800" spc="-10" dirty="0">
                          <a:solidFill>
                            <a:srgbClr val="0E7100"/>
                          </a:solidFill>
                          <a:latin typeface="Courier New"/>
                          <a:cs typeface="Courier New"/>
                        </a:rPr>
                        <a:t>class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73658" y="4665345"/>
            <a:ext cx="8862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Object</a:t>
            </a:r>
            <a:r>
              <a:rPr sz="1800" spc="-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o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=</a:t>
            </a:r>
            <a:r>
              <a:rPr sz="1800" spc="2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new</a:t>
            </a:r>
            <a:r>
              <a:rPr sz="1800" spc="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Integer();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//Integer is</a:t>
            </a:r>
            <a:r>
              <a:rPr sz="18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a</a:t>
            </a:r>
            <a:r>
              <a:rPr sz="1800" spc="-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subclass</a:t>
            </a:r>
            <a:r>
              <a:rPr sz="1800" spc="1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of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Object</a:t>
            </a:r>
            <a:r>
              <a:rPr sz="18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class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5819" y="5565647"/>
            <a:ext cx="2870835" cy="50901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33119" y="6073902"/>
            <a:ext cx="186055" cy="1671955"/>
          </a:xfrm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sz="3600" spc="-50" dirty="0">
                <a:latin typeface="Arial MT"/>
                <a:cs typeface="Arial MT"/>
              </a:rPr>
              <a:t>•</a:t>
            </a: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600" spc="-50" dirty="0">
                <a:latin typeface="Arial MT"/>
                <a:cs typeface="Arial MT"/>
              </a:rPr>
              <a:t>•</a:t>
            </a:r>
            <a:endParaRPr sz="36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17319" y="6388608"/>
            <a:ext cx="5664835" cy="509270"/>
            <a:chOff x="1417319" y="6388608"/>
            <a:chExt cx="5664835" cy="50927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17319" y="6388608"/>
              <a:ext cx="2806827" cy="5090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23613" y="6388608"/>
              <a:ext cx="3058033" cy="5090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46442" y="6388608"/>
              <a:ext cx="164592" cy="50901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417319" y="7211821"/>
            <a:ext cx="4771390" cy="509270"/>
            <a:chOff x="1417319" y="7211821"/>
            <a:chExt cx="4771390" cy="509270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7319" y="7211821"/>
              <a:ext cx="1862201" cy="5090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30549" y="7211821"/>
              <a:ext cx="3058032" cy="5090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53379" y="7211821"/>
              <a:ext cx="164591" cy="5090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707" y="1252855"/>
            <a:ext cx="697224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3300"/>
                </a:solidFill>
              </a:rPr>
              <a:t>Compile</a:t>
            </a:r>
            <a:r>
              <a:rPr sz="4000" spc="-35" dirty="0">
                <a:solidFill>
                  <a:srgbClr val="FF3300"/>
                </a:solidFill>
              </a:rPr>
              <a:t> </a:t>
            </a:r>
            <a:r>
              <a:rPr sz="4000" dirty="0">
                <a:solidFill>
                  <a:srgbClr val="FF3300"/>
                </a:solidFill>
              </a:rPr>
              <a:t>Time</a:t>
            </a:r>
            <a:r>
              <a:rPr sz="4000" spc="-60" dirty="0">
                <a:solidFill>
                  <a:srgbClr val="FF3300"/>
                </a:solidFill>
              </a:rPr>
              <a:t> </a:t>
            </a:r>
            <a:r>
              <a:rPr sz="4000" spc="-10" dirty="0">
                <a:solidFill>
                  <a:srgbClr val="FF3300"/>
                </a:solidFill>
              </a:rPr>
              <a:t>Polymorphism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2408" y="2375661"/>
            <a:ext cx="7169150" cy="509270"/>
            <a:chOff x="832408" y="2375661"/>
            <a:chExt cx="7169150" cy="509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408" y="2375661"/>
              <a:ext cx="1257401" cy="5090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0978" y="2375661"/>
              <a:ext cx="1726438" cy="5090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5337" y="2375661"/>
              <a:ext cx="477774" cy="50901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3852" y="2375661"/>
              <a:ext cx="1754886" cy="5090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0336" y="2375661"/>
              <a:ext cx="2510790" cy="5090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91957" y="2375661"/>
              <a:ext cx="164592" cy="509016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13683"/>
              </p:ext>
            </p:extLst>
          </p:nvPr>
        </p:nvGraphicFramePr>
        <p:xfrm>
          <a:off x="1966848" y="3639438"/>
          <a:ext cx="7383779" cy="1087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9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8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875">
                <a:tc>
                  <a:txBody>
                    <a:bodyPr/>
                    <a:lstStyle/>
                    <a:p>
                      <a:pPr marL="31750">
                        <a:lnSpc>
                          <a:spcPts val="2030"/>
                        </a:lnSpc>
                      </a:pPr>
                      <a:r>
                        <a:rPr sz="1800" spc="-1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public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0"/>
                        </a:lnSpc>
                      </a:pPr>
                      <a:r>
                        <a:rPr sz="1800" spc="-1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static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30"/>
                        </a:lnSpc>
                      </a:pPr>
                      <a:r>
                        <a:rPr sz="180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double</a:t>
                      </a:r>
                      <a:r>
                        <a:rPr sz="1800" spc="15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Math.max(</a:t>
                      </a:r>
                      <a:r>
                        <a:rPr sz="180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double</a:t>
                      </a:r>
                      <a:r>
                        <a:rPr sz="1800" spc="1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a,</a:t>
                      </a:r>
                      <a:r>
                        <a:rPr sz="1800" spc="1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double</a:t>
                      </a:r>
                      <a:r>
                        <a:rPr sz="1800" spc="15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b){..}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31750">
                        <a:lnSpc>
                          <a:spcPts val="2060"/>
                        </a:lnSpc>
                      </a:pPr>
                      <a:r>
                        <a:rPr sz="1800" spc="-1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public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spc="-1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static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60"/>
                        </a:lnSpc>
                      </a:pPr>
                      <a:r>
                        <a:rPr sz="180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r>
                        <a:rPr sz="1800" spc="15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Math.max(</a:t>
                      </a:r>
                      <a:r>
                        <a:rPr sz="180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r>
                        <a:rPr sz="1800" spc="1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a,</a:t>
                      </a:r>
                      <a:r>
                        <a:rPr sz="1800" spc="15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r>
                        <a:rPr sz="1800" spc="2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b){..}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2065"/>
                        </a:lnSpc>
                      </a:pPr>
                      <a:r>
                        <a:rPr sz="1800" spc="-1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public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</a:pPr>
                      <a:r>
                        <a:rPr sz="1800" spc="-1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static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65"/>
                        </a:lnSpc>
                      </a:pPr>
                      <a:r>
                        <a:rPr sz="180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800" spc="5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Math.max(</a:t>
                      </a:r>
                      <a:r>
                        <a:rPr sz="180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800" spc="1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a,</a:t>
                      </a:r>
                      <a:r>
                        <a:rPr sz="1800" spc="5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800" spc="15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b){..}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31750">
                        <a:lnSpc>
                          <a:spcPts val="2030"/>
                        </a:lnSpc>
                      </a:pPr>
                      <a:r>
                        <a:rPr sz="1800" spc="-1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public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0"/>
                        </a:lnSpc>
                      </a:pPr>
                      <a:r>
                        <a:rPr sz="1800" spc="-1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static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30"/>
                        </a:lnSpc>
                      </a:pPr>
                      <a:r>
                        <a:rPr sz="180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long</a:t>
                      </a:r>
                      <a:r>
                        <a:rPr sz="1800" spc="5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Math.max(</a:t>
                      </a:r>
                      <a:r>
                        <a:rPr sz="180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long</a:t>
                      </a:r>
                      <a:r>
                        <a:rPr sz="1800" spc="2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a, </a:t>
                      </a:r>
                      <a:r>
                        <a:rPr sz="180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long</a:t>
                      </a:r>
                      <a:r>
                        <a:rPr sz="1800" spc="20" dirty="0">
                          <a:solidFill>
                            <a:srgbClr val="09528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1D1D1D"/>
                          </a:solidFill>
                          <a:latin typeface="Courier New"/>
                          <a:cs typeface="Courier New"/>
                        </a:rPr>
                        <a:t>b){..}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860552" y="5481954"/>
            <a:ext cx="102463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EmployeeFactory.create(String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firstName,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String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D1D1D"/>
                </a:solidFill>
                <a:latin typeface="Courier New"/>
                <a:cs typeface="Courier New"/>
              </a:rPr>
              <a:t>lastName){...}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EmployeeFactory.create(Integer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id, String</a:t>
            </a:r>
            <a:r>
              <a:rPr sz="1800" spc="2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firstName,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String</a:t>
            </a:r>
            <a:r>
              <a:rPr sz="1800" spc="2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D1D1D"/>
                </a:solidFill>
                <a:latin typeface="Courier New"/>
                <a:cs typeface="Courier New"/>
              </a:rPr>
              <a:t>lastName){...}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026" y="1972184"/>
            <a:ext cx="53644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FF3300"/>
                </a:solidFill>
              </a:rPr>
              <a:t>Runtime</a:t>
            </a:r>
            <a:r>
              <a:rPr sz="4000" b="1" spc="-35" dirty="0">
                <a:solidFill>
                  <a:srgbClr val="FF3300"/>
                </a:solidFill>
              </a:rPr>
              <a:t> </a:t>
            </a:r>
            <a:r>
              <a:rPr sz="4000" b="1" spc="-10" dirty="0">
                <a:solidFill>
                  <a:srgbClr val="FF3300"/>
                </a:solidFill>
              </a:rPr>
              <a:t>Polymorphism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2280" y="2748226"/>
            <a:ext cx="7496175" cy="509270"/>
            <a:chOff x="832408" y="2375661"/>
            <a:chExt cx="7496175" cy="509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408" y="2375661"/>
              <a:ext cx="1944116" cy="5090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7343" y="2375661"/>
              <a:ext cx="1726437" cy="5090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11700" y="2375661"/>
              <a:ext cx="475488" cy="50901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8692" y="2375661"/>
              <a:ext cx="1755266" cy="5090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17081" y="2375661"/>
              <a:ext cx="2211196" cy="5090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27237" y="2375661"/>
              <a:ext cx="164592" cy="50901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82600" y="3552571"/>
            <a:ext cx="5689600" cy="1397635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1800" spc="-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class</a:t>
            </a:r>
            <a:r>
              <a:rPr sz="1800" spc="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Animal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1116965" marR="5080" indent="-553720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1800"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void</a:t>
            </a:r>
            <a:r>
              <a:rPr sz="1800"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makeNoise()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System.out.println(</a:t>
            </a:r>
            <a:r>
              <a:rPr sz="1800" dirty="0">
                <a:solidFill>
                  <a:srgbClr val="0000FF"/>
                </a:solidFill>
                <a:latin typeface="Courier New"/>
                <a:cs typeface="Courier New"/>
              </a:rPr>
              <a:t>"Some </a:t>
            </a:r>
            <a:r>
              <a:rPr sz="1800" spc="-10" dirty="0">
                <a:solidFill>
                  <a:srgbClr val="0000FF"/>
                </a:solidFill>
                <a:latin typeface="Courier New"/>
                <a:cs typeface="Courier New"/>
              </a:rPr>
              <a:t>sound"</a:t>
            </a:r>
            <a:r>
              <a:rPr sz="1800" spc="-10" dirty="0">
                <a:solidFill>
                  <a:srgbClr val="1D1D1D"/>
                </a:solidFill>
                <a:latin typeface="Courier New"/>
                <a:cs typeface="Courier New"/>
              </a:rPr>
              <a:t>);</a:t>
            </a:r>
            <a:endParaRPr sz="1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600" y="5198745"/>
            <a:ext cx="5721350" cy="1397000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563880" marR="833755" indent="-5518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class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Dog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extends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Animal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1800"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void</a:t>
            </a:r>
            <a:r>
              <a:rPr sz="1800"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makeNoise()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1116965">
              <a:lnSpc>
                <a:spcPct val="100000"/>
              </a:lnSpc>
            </a:pPr>
            <a:r>
              <a:rPr sz="1800" spc="-10" dirty="0">
                <a:solidFill>
                  <a:srgbClr val="1D1D1D"/>
                </a:solidFill>
                <a:latin typeface="Courier New"/>
                <a:cs typeface="Courier New"/>
              </a:rPr>
              <a:t>System.out.println(</a:t>
            </a:r>
            <a:r>
              <a:rPr sz="1800" spc="-10" dirty="0">
                <a:solidFill>
                  <a:srgbClr val="0000FF"/>
                </a:solidFill>
                <a:latin typeface="Courier New"/>
                <a:cs typeface="Courier New"/>
              </a:rPr>
              <a:t>"Bark"</a:t>
            </a:r>
            <a:r>
              <a:rPr sz="1800" spc="-10" dirty="0">
                <a:solidFill>
                  <a:srgbClr val="1D1D1D"/>
                </a:solidFill>
                <a:latin typeface="Courier New"/>
                <a:cs typeface="Courier New"/>
              </a:rPr>
              <a:t>);</a:t>
            </a:r>
            <a:endParaRPr sz="1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600" y="6845045"/>
            <a:ext cx="5689600" cy="1397000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563880" marR="1109345" indent="-5518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class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Cat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extends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Animal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1800"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void</a:t>
            </a:r>
            <a:r>
              <a:rPr sz="1800"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makeNoise()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1116965">
              <a:lnSpc>
                <a:spcPct val="100000"/>
              </a:lnSpc>
            </a:pPr>
            <a:r>
              <a:rPr sz="1800" spc="-10" dirty="0">
                <a:solidFill>
                  <a:srgbClr val="1D1D1D"/>
                </a:solidFill>
                <a:latin typeface="Courier New"/>
                <a:cs typeface="Courier New"/>
              </a:rPr>
              <a:t>System.out.println(</a:t>
            </a:r>
            <a:r>
              <a:rPr sz="1800" spc="-10" dirty="0">
                <a:solidFill>
                  <a:srgbClr val="0000FF"/>
                </a:solidFill>
                <a:latin typeface="Courier New"/>
                <a:cs typeface="Courier New"/>
              </a:rPr>
              <a:t>"Meawoo"</a:t>
            </a:r>
            <a:r>
              <a:rPr sz="1800" spc="-10" dirty="0">
                <a:solidFill>
                  <a:srgbClr val="1D1D1D"/>
                </a:solidFill>
                <a:latin typeface="Courier New"/>
                <a:cs typeface="Courier New"/>
              </a:rPr>
              <a:t>);</a:t>
            </a:r>
            <a:endParaRPr sz="1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81902" y="3552571"/>
            <a:ext cx="61023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 class</a:t>
            </a:r>
            <a:r>
              <a:rPr sz="1800" spc="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Demo</a:t>
            </a:r>
            <a:r>
              <a:rPr sz="18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1117600" marR="5080" indent="-553720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1800"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static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void</a:t>
            </a:r>
            <a:r>
              <a:rPr sz="1800" spc="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main(String[]</a:t>
            </a:r>
            <a:r>
              <a:rPr sz="1800" spc="2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args)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Animal</a:t>
            </a:r>
            <a:r>
              <a:rPr sz="18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a1</a:t>
            </a:r>
            <a:r>
              <a:rPr sz="18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=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new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D1D1D"/>
                </a:solidFill>
                <a:latin typeface="Courier New"/>
                <a:cs typeface="Courier New"/>
              </a:rPr>
              <a:t>Cat();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a1.makeNoise();</a:t>
            </a:r>
            <a:r>
              <a:rPr sz="1800" spc="-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//Prints</a:t>
            </a:r>
            <a:r>
              <a:rPr sz="1800" spc="3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Meowoo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86802" y="4924425"/>
            <a:ext cx="4029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Animal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a2</a:t>
            </a:r>
            <a:r>
              <a:rPr sz="18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=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new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D1D1D"/>
                </a:solidFill>
                <a:latin typeface="Courier New"/>
                <a:cs typeface="Courier New"/>
              </a:rPr>
              <a:t>Dog();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a2.makeNoise();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//Prints</a:t>
            </a:r>
            <a:r>
              <a:rPr sz="1800" spc="2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0E7100"/>
                </a:solidFill>
                <a:latin typeface="Courier New"/>
                <a:cs typeface="Courier New"/>
              </a:rPr>
              <a:t>Bark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33590" y="5473065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81902" y="5747384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708" y="1252855"/>
            <a:ext cx="621609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FF3300"/>
                </a:solidFill>
              </a:rPr>
              <a:t>Method</a:t>
            </a:r>
            <a:r>
              <a:rPr sz="4000" b="1" spc="-35" dirty="0">
                <a:solidFill>
                  <a:srgbClr val="FF3300"/>
                </a:solidFill>
              </a:rPr>
              <a:t> </a:t>
            </a:r>
            <a:r>
              <a:rPr sz="4000" b="1" dirty="0">
                <a:solidFill>
                  <a:srgbClr val="FF3300"/>
                </a:solidFill>
              </a:rPr>
              <a:t>Overloading</a:t>
            </a:r>
            <a:r>
              <a:rPr sz="4000" b="1" spc="-40" dirty="0">
                <a:solidFill>
                  <a:srgbClr val="FF3300"/>
                </a:solidFill>
              </a:rPr>
              <a:t> </a:t>
            </a:r>
            <a:r>
              <a:rPr sz="4000" b="1" spc="-10" dirty="0">
                <a:solidFill>
                  <a:srgbClr val="FF3300"/>
                </a:solidFill>
              </a:rPr>
              <a:t>Rules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2408" y="2354326"/>
            <a:ext cx="10393680" cy="452755"/>
            <a:chOff x="832408" y="2354326"/>
            <a:chExt cx="10393680" cy="4527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408" y="2354326"/>
              <a:ext cx="4855210" cy="4526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3385" y="2354326"/>
              <a:ext cx="5732653" cy="452627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408" y="3085541"/>
            <a:ext cx="6106668" cy="45293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832408" y="3817620"/>
            <a:ext cx="11191240" cy="452755"/>
            <a:chOff x="832408" y="3817620"/>
            <a:chExt cx="11191240" cy="45275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408" y="3817620"/>
              <a:ext cx="6964426" cy="4526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22794" y="3817620"/>
              <a:ext cx="4400296" cy="452627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832408" y="4549140"/>
            <a:ext cx="4923155" cy="452755"/>
            <a:chOff x="832408" y="4549140"/>
            <a:chExt cx="4923155" cy="45275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2408" y="4549140"/>
              <a:ext cx="2825877" cy="4526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2372" y="4549140"/>
              <a:ext cx="2234438" cy="4526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40629" y="4549140"/>
              <a:ext cx="214884" cy="4526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708" y="1252855"/>
            <a:ext cx="644469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FF3300"/>
                </a:solidFill>
              </a:rPr>
              <a:t>Method</a:t>
            </a:r>
            <a:r>
              <a:rPr sz="4000" b="1" spc="-35" dirty="0">
                <a:solidFill>
                  <a:srgbClr val="FF3300"/>
                </a:solidFill>
              </a:rPr>
              <a:t> </a:t>
            </a:r>
            <a:r>
              <a:rPr sz="4000" b="1" dirty="0">
                <a:solidFill>
                  <a:srgbClr val="FF3300"/>
                </a:solidFill>
              </a:rPr>
              <a:t>Overloading</a:t>
            </a:r>
            <a:r>
              <a:rPr sz="4000" b="1" spc="-40" dirty="0">
                <a:solidFill>
                  <a:srgbClr val="FF3300"/>
                </a:solidFill>
              </a:rPr>
              <a:t> </a:t>
            </a:r>
            <a:r>
              <a:rPr sz="4000" b="1" spc="-10" dirty="0">
                <a:solidFill>
                  <a:srgbClr val="FF3300"/>
                </a:solidFill>
              </a:rPr>
              <a:t>Rules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2408" y="2354326"/>
            <a:ext cx="10966450" cy="452755"/>
            <a:chOff x="832408" y="2354326"/>
            <a:chExt cx="10966450" cy="4527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408" y="2354326"/>
              <a:ext cx="1599946" cy="4526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4630" y="2354326"/>
              <a:ext cx="1643252" cy="4526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63061" y="2354326"/>
              <a:ext cx="5517134" cy="4526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02268" y="2354326"/>
              <a:ext cx="2366137" cy="4526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71173" y="2354326"/>
              <a:ext cx="627278" cy="45262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2408" y="3085541"/>
            <a:ext cx="10597388" cy="45293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2408" y="3817620"/>
            <a:ext cx="3181096" cy="45262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26549" y="4865914"/>
            <a:ext cx="10247630" cy="3317875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R="6912609" algn="r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pc="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095286"/>
                </a:solidFill>
                <a:latin typeface="Courier New"/>
                <a:cs typeface="Courier New"/>
              </a:rPr>
              <a:t>class</a:t>
            </a:r>
            <a:r>
              <a:rPr spc="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1D1D1D"/>
                </a:solidFill>
                <a:latin typeface="Courier New"/>
                <a:cs typeface="Courier New"/>
              </a:rPr>
              <a:t>DemoClass</a:t>
            </a:r>
            <a:r>
              <a:rPr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dirty="0">
              <a:latin typeface="Courier New"/>
              <a:cs typeface="Courier New"/>
            </a:endParaRPr>
          </a:p>
          <a:p>
            <a:pPr marR="6913880" algn="r">
              <a:lnSpc>
                <a:spcPct val="100000"/>
              </a:lnSpc>
            </a:pPr>
            <a:r>
              <a:rPr dirty="0">
                <a:solidFill>
                  <a:srgbClr val="0E7100"/>
                </a:solidFill>
                <a:latin typeface="Courier New"/>
                <a:cs typeface="Courier New"/>
              </a:rPr>
              <a:t>//</a:t>
            </a:r>
            <a:r>
              <a:rPr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0E7100"/>
                </a:solidFill>
                <a:latin typeface="Courier New"/>
                <a:cs typeface="Courier New"/>
              </a:rPr>
              <a:t>Overloaded</a:t>
            </a:r>
            <a:r>
              <a:rPr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rgbClr val="0E7100"/>
                </a:solidFill>
                <a:latin typeface="Courier New"/>
                <a:cs typeface="Courier New"/>
              </a:rPr>
              <a:t>method</a:t>
            </a:r>
            <a:endParaRPr dirty="0">
              <a:latin typeface="Courier New"/>
              <a:cs typeface="Courier New"/>
            </a:endParaRPr>
          </a:p>
          <a:p>
            <a:pPr marL="1116965" marR="5080" indent="-553720">
              <a:lnSpc>
                <a:spcPct val="100000"/>
              </a:lnSpc>
            </a:pPr>
            <a:r>
              <a:rPr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1D1D1D"/>
                </a:solidFill>
                <a:latin typeface="Courier New"/>
                <a:cs typeface="Courier New"/>
              </a:rPr>
              <a:t>Integer</a:t>
            </a:r>
            <a:r>
              <a:rPr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1D1D1D"/>
                </a:solidFill>
                <a:latin typeface="Courier New"/>
                <a:cs typeface="Courier New"/>
              </a:rPr>
              <a:t>sum(Integer a,</a:t>
            </a:r>
            <a:r>
              <a:rPr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1D1D1D"/>
                </a:solidFill>
                <a:latin typeface="Courier New"/>
                <a:cs typeface="Courier New"/>
              </a:rPr>
              <a:t>Integer</a:t>
            </a:r>
            <a:r>
              <a:rPr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1D1D1D"/>
                </a:solidFill>
                <a:latin typeface="Courier New"/>
                <a:cs typeface="Courier New"/>
              </a:rPr>
              <a:t>b)</a:t>
            </a:r>
            <a:r>
              <a:rPr spc="3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095286"/>
                </a:solidFill>
                <a:latin typeface="Courier New"/>
                <a:cs typeface="Courier New"/>
              </a:rPr>
              <a:t>throws</a:t>
            </a:r>
            <a:r>
              <a:rPr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1D1D1D"/>
                </a:solidFill>
                <a:latin typeface="Courier New"/>
                <a:cs typeface="Courier New"/>
              </a:rPr>
              <a:t>NullPointerException</a:t>
            </a:r>
            <a:r>
              <a:rPr spc="2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pc="-50" dirty="0">
                <a:solidFill>
                  <a:srgbClr val="1D1D1D"/>
                </a:solidFill>
                <a:latin typeface="Courier New"/>
                <a:cs typeface="Courier New"/>
              </a:rPr>
              <a:t>{ </a:t>
            </a:r>
            <a:r>
              <a:rPr dirty="0">
                <a:solidFill>
                  <a:srgbClr val="095286"/>
                </a:solidFill>
                <a:latin typeface="Courier New"/>
                <a:cs typeface="Courier New"/>
              </a:rPr>
              <a:t>return</a:t>
            </a:r>
            <a:r>
              <a:rPr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1D1D1D"/>
                </a:solidFill>
                <a:latin typeface="Courier New"/>
                <a:cs typeface="Courier New"/>
              </a:rPr>
              <a:t>a</a:t>
            </a:r>
            <a:r>
              <a:rPr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1D1D1D"/>
                </a:solidFill>
                <a:latin typeface="Courier New"/>
                <a:cs typeface="Courier New"/>
              </a:rPr>
              <a:t>+</a:t>
            </a:r>
            <a:r>
              <a:rPr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pc="-25" dirty="0">
                <a:solidFill>
                  <a:srgbClr val="1D1D1D"/>
                </a:solidFill>
                <a:latin typeface="Courier New"/>
                <a:cs typeface="Courier New"/>
              </a:rPr>
              <a:t>b;</a:t>
            </a:r>
            <a:endParaRPr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dirty="0">
                <a:solidFill>
                  <a:srgbClr val="0E7100"/>
                </a:solidFill>
                <a:latin typeface="Courier New"/>
                <a:cs typeface="Courier New"/>
              </a:rPr>
              <a:t>// Overloading</a:t>
            </a:r>
            <a:r>
              <a:rPr spc="1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rgbClr val="0E7100"/>
                </a:solidFill>
                <a:latin typeface="Courier New"/>
                <a:cs typeface="Courier New"/>
              </a:rPr>
              <a:t>method</a:t>
            </a:r>
            <a:endParaRPr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dirty="0">
                <a:solidFill>
                  <a:srgbClr val="0E7100"/>
                </a:solidFill>
                <a:latin typeface="Courier New"/>
                <a:cs typeface="Courier New"/>
              </a:rPr>
              <a:t>//Not valid;</a:t>
            </a:r>
            <a:r>
              <a:rPr spc="1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0E7100"/>
                </a:solidFill>
                <a:latin typeface="Courier New"/>
                <a:cs typeface="Courier New"/>
              </a:rPr>
              <a:t>Compile time</a:t>
            </a:r>
            <a:r>
              <a:rPr spc="1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rgbClr val="0E7100"/>
                </a:solidFill>
                <a:latin typeface="Courier New"/>
                <a:cs typeface="Courier New"/>
              </a:rPr>
              <a:t>error</a:t>
            </a:r>
            <a:endParaRPr dirty="0">
              <a:latin typeface="Courier New"/>
              <a:cs typeface="Courier New"/>
            </a:endParaRPr>
          </a:p>
          <a:p>
            <a:pPr marL="1254760" marR="1525905" indent="-690880">
              <a:lnSpc>
                <a:spcPct val="100000"/>
              </a:lnSpc>
            </a:pPr>
            <a:r>
              <a:rPr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1D1D1D"/>
                </a:solidFill>
                <a:latin typeface="Courier New"/>
                <a:cs typeface="Courier New"/>
              </a:rPr>
              <a:t>Integer</a:t>
            </a:r>
            <a:r>
              <a:rPr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1D1D1D"/>
                </a:solidFill>
                <a:latin typeface="Courier New"/>
                <a:cs typeface="Courier New"/>
              </a:rPr>
              <a:t>sum(Integer</a:t>
            </a:r>
            <a:r>
              <a:rPr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1D1D1D"/>
                </a:solidFill>
                <a:latin typeface="Courier New"/>
                <a:cs typeface="Courier New"/>
              </a:rPr>
              <a:t>a,</a:t>
            </a:r>
            <a:r>
              <a:rPr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1D1D1D"/>
                </a:solidFill>
                <a:latin typeface="Courier New"/>
                <a:cs typeface="Courier New"/>
              </a:rPr>
              <a:t>Integer b)</a:t>
            </a:r>
            <a:r>
              <a:rPr spc="3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095286"/>
                </a:solidFill>
                <a:latin typeface="Courier New"/>
                <a:cs typeface="Courier New"/>
              </a:rPr>
              <a:t>throws</a:t>
            </a:r>
            <a:r>
              <a:rPr spc="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1D1D1D"/>
                </a:solidFill>
                <a:latin typeface="Courier New"/>
                <a:cs typeface="Courier New"/>
              </a:rPr>
              <a:t>Exception</a:t>
            </a:r>
            <a:r>
              <a:rPr spc="-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pc="-50" dirty="0">
                <a:solidFill>
                  <a:srgbClr val="1D1D1D"/>
                </a:solidFill>
                <a:latin typeface="Courier New"/>
                <a:cs typeface="Courier New"/>
              </a:rPr>
              <a:t>{ </a:t>
            </a:r>
            <a:r>
              <a:rPr dirty="0">
                <a:solidFill>
                  <a:srgbClr val="095286"/>
                </a:solidFill>
                <a:latin typeface="Courier New"/>
                <a:cs typeface="Courier New"/>
              </a:rPr>
              <a:t>return</a:t>
            </a:r>
            <a:r>
              <a:rPr spc="2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pc="-20" dirty="0">
                <a:solidFill>
                  <a:srgbClr val="095286"/>
                </a:solidFill>
                <a:latin typeface="Courier New"/>
                <a:cs typeface="Courier New"/>
              </a:rPr>
              <a:t>null</a:t>
            </a:r>
            <a:r>
              <a:rPr spc="-20" dirty="0">
                <a:solidFill>
                  <a:srgbClr val="1D1D1D"/>
                </a:solidFill>
                <a:latin typeface="Courier New"/>
                <a:cs typeface="Courier New"/>
              </a:rPr>
              <a:t>;</a:t>
            </a:r>
            <a:endParaRPr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708" y="1252855"/>
            <a:ext cx="53644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FF3300"/>
                </a:solidFill>
              </a:rPr>
              <a:t>Method</a:t>
            </a:r>
            <a:r>
              <a:rPr sz="4000" b="1" spc="-25" dirty="0">
                <a:solidFill>
                  <a:srgbClr val="FF3300"/>
                </a:solidFill>
              </a:rPr>
              <a:t> </a:t>
            </a:r>
            <a:r>
              <a:rPr sz="4000" b="1" dirty="0">
                <a:solidFill>
                  <a:srgbClr val="FF3300"/>
                </a:solidFill>
              </a:rPr>
              <a:t>Overriding</a:t>
            </a:r>
            <a:r>
              <a:rPr sz="4000" b="1" spc="-40" dirty="0">
                <a:solidFill>
                  <a:srgbClr val="FF3300"/>
                </a:solidFill>
              </a:rPr>
              <a:t> </a:t>
            </a:r>
            <a:r>
              <a:rPr sz="4000" b="1" spc="-10" dirty="0">
                <a:solidFill>
                  <a:srgbClr val="FF3300"/>
                </a:solidFill>
              </a:rPr>
              <a:t>Rules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2408" y="2354326"/>
            <a:ext cx="11226800" cy="452755"/>
            <a:chOff x="832408" y="2354326"/>
            <a:chExt cx="11226800" cy="4527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408" y="2354326"/>
              <a:ext cx="4448556" cy="4526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5621" y="2354326"/>
              <a:ext cx="1942592" cy="4526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30898" y="2354326"/>
              <a:ext cx="466344" cy="4526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41793" y="2354326"/>
              <a:ext cx="2087499" cy="4526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4771" y="2354326"/>
              <a:ext cx="1806194" cy="4526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92282" y="2354326"/>
              <a:ext cx="1166774" cy="452627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832408" y="3085541"/>
            <a:ext cx="9790430" cy="453390"/>
            <a:chOff x="832408" y="3085541"/>
            <a:chExt cx="9790430" cy="453390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2408" y="3085541"/>
              <a:ext cx="771906" cy="4529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49958" y="3085541"/>
              <a:ext cx="2535681" cy="45293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58133" y="3085541"/>
              <a:ext cx="1791715" cy="4529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50712" y="3085541"/>
              <a:ext cx="3100577" cy="4529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88095" y="3085541"/>
              <a:ext cx="2234438" cy="4529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436352" y="3085541"/>
              <a:ext cx="146303" cy="452932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32408" y="3817620"/>
            <a:ext cx="10527030" cy="452755"/>
            <a:chOff x="832408" y="3817620"/>
            <a:chExt cx="10527030" cy="452755"/>
          </a:xfrm>
        </p:grpSpPr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2408" y="3817620"/>
              <a:ext cx="3563620" cy="45262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17797" y="3817620"/>
              <a:ext cx="2087499" cy="45262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00902" y="3817620"/>
              <a:ext cx="1639316" cy="45262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91373" y="3817620"/>
              <a:ext cx="3668014" cy="452627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832408" y="4549140"/>
            <a:ext cx="3475354" cy="452755"/>
            <a:chOff x="832408" y="4549140"/>
            <a:chExt cx="3475354" cy="45275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2408" y="4549140"/>
              <a:ext cx="1942592" cy="4526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67634" y="4549140"/>
              <a:ext cx="1639697" cy="45262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73016" y="4549140"/>
              <a:ext cx="221741" cy="452627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940843" y="4811955"/>
            <a:ext cx="6375400" cy="4141470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 class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SuperClass</a:t>
            </a:r>
            <a:r>
              <a:rPr sz="18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//Overriden</a:t>
            </a:r>
            <a:r>
              <a:rPr sz="1800" spc="2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method</a:t>
            </a:r>
            <a:endParaRPr sz="1800" dirty="0">
              <a:latin typeface="Courier New"/>
              <a:cs typeface="Courier New"/>
            </a:endParaRPr>
          </a:p>
          <a:p>
            <a:pPr marL="1116965" marR="142240" indent="-553720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1800" spc="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Number</a:t>
            </a:r>
            <a:r>
              <a:rPr sz="1800" spc="-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sum(Integer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a,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Integer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b)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return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+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1D1D1D"/>
                </a:solidFill>
                <a:latin typeface="Courier New"/>
                <a:cs typeface="Courier New"/>
              </a:rPr>
              <a:t>b;</a:t>
            </a:r>
            <a:endParaRPr sz="1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class</a:t>
            </a:r>
            <a:r>
              <a:rPr sz="1800" spc="-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SubClass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extends</a:t>
            </a:r>
            <a:r>
              <a:rPr sz="1800" spc="-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SuperClass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//Overriding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method</a:t>
            </a:r>
            <a:endParaRPr sz="1800" dirty="0">
              <a:latin typeface="Courier New"/>
              <a:cs typeface="Courier New"/>
            </a:endParaRPr>
          </a:p>
          <a:p>
            <a:pPr marL="562610" marR="419734" indent="1270">
              <a:lnSpc>
                <a:spcPct val="100000"/>
              </a:lnSpc>
            </a:pP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//Integer</a:t>
            </a:r>
            <a:r>
              <a:rPr sz="1800" spc="-1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extends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Number;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so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it's</a:t>
            </a:r>
            <a:r>
              <a:rPr sz="18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valid </a:t>
            </a:r>
            <a:r>
              <a:rPr sz="1800" spc="-10" dirty="0">
                <a:solidFill>
                  <a:srgbClr val="6C6C6C"/>
                </a:solidFill>
                <a:latin typeface="Courier New"/>
                <a:cs typeface="Courier New"/>
              </a:rPr>
              <a:t>@Override</a:t>
            </a:r>
            <a:endParaRPr sz="1800" dirty="0">
              <a:latin typeface="Courier New"/>
              <a:cs typeface="Courier New"/>
            </a:endParaRPr>
          </a:p>
          <a:p>
            <a:pPr marL="1116965" marR="5080" indent="-553720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Integer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sum(Integer a,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Integer b)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return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+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1D1D1D"/>
                </a:solidFill>
                <a:latin typeface="Courier New"/>
                <a:cs typeface="Courier New"/>
              </a:rPr>
              <a:t>b;</a:t>
            </a:r>
            <a:endParaRPr sz="1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708" y="1252855"/>
            <a:ext cx="53644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FF3300"/>
                </a:solidFill>
              </a:rPr>
              <a:t>Method</a:t>
            </a:r>
            <a:r>
              <a:rPr sz="4000" b="1" spc="-25" dirty="0">
                <a:solidFill>
                  <a:srgbClr val="FF3300"/>
                </a:solidFill>
              </a:rPr>
              <a:t> </a:t>
            </a:r>
            <a:r>
              <a:rPr sz="4000" b="1" dirty="0">
                <a:solidFill>
                  <a:srgbClr val="FF3300"/>
                </a:solidFill>
              </a:rPr>
              <a:t>Overriding</a:t>
            </a:r>
            <a:r>
              <a:rPr sz="4000" b="1" spc="-40" dirty="0">
                <a:solidFill>
                  <a:srgbClr val="FF3300"/>
                </a:solidFill>
              </a:rPr>
              <a:t> </a:t>
            </a:r>
            <a:r>
              <a:rPr sz="4000" b="1" spc="-10" dirty="0">
                <a:solidFill>
                  <a:srgbClr val="FF3300"/>
                </a:solidFill>
              </a:rPr>
              <a:t>Rules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2408" y="2354326"/>
            <a:ext cx="9161145" cy="452755"/>
            <a:chOff x="832408" y="2354326"/>
            <a:chExt cx="9161145" cy="4527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408" y="2354326"/>
              <a:ext cx="1757680" cy="4526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1706" y="2354326"/>
              <a:ext cx="2148332" cy="4526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64685" y="2354326"/>
              <a:ext cx="1473453" cy="4526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53988" y="2354326"/>
              <a:ext cx="1497330" cy="4526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15302" y="2354326"/>
              <a:ext cx="1150366" cy="4526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86673" y="2354326"/>
              <a:ext cx="1806448" cy="4526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67316" y="2354326"/>
              <a:ext cx="221742" cy="452627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60552" y="3465398"/>
            <a:ext cx="6521450" cy="3592829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1800" spc="-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class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SuperClass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63880" marR="50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//private</a:t>
            </a:r>
            <a:r>
              <a:rPr sz="1800" spc="-1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method;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overriding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not</a:t>
            </a:r>
            <a:r>
              <a:rPr sz="18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possible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private</a:t>
            </a:r>
            <a:r>
              <a:rPr sz="1800" spc="2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Integer</a:t>
            </a:r>
            <a:r>
              <a:rPr sz="1800" spc="2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sum(Integer</a:t>
            </a:r>
            <a:r>
              <a:rPr sz="18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a,</a:t>
            </a:r>
            <a:r>
              <a:rPr sz="1800" spc="2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Integer</a:t>
            </a:r>
            <a:r>
              <a:rPr sz="18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b)</a:t>
            </a:r>
            <a:r>
              <a:rPr sz="1800" spc="2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116965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return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+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1D1D1D"/>
                </a:solidFill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class</a:t>
            </a:r>
            <a:r>
              <a:rPr sz="1800" spc="-1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SubClass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extends</a:t>
            </a:r>
            <a:r>
              <a:rPr sz="1800" spc="-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SuperClass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//Overriding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method</a:t>
            </a:r>
            <a:endParaRPr sz="1800">
              <a:latin typeface="Courier New"/>
              <a:cs typeface="Courier New"/>
            </a:endParaRPr>
          </a:p>
          <a:p>
            <a:pPr marL="1116965" marR="150495" indent="-553720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Integer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sum(Integer a,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Integer b)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return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+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1D1D1D"/>
                </a:solidFill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708" y="1252855"/>
            <a:ext cx="53644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FF3300"/>
                </a:solidFill>
              </a:rPr>
              <a:t>Method</a:t>
            </a:r>
            <a:r>
              <a:rPr sz="4000" b="1" spc="-25" dirty="0">
                <a:solidFill>
                  <a:srgbClr val="FF3300"/>
                </a:solidFill>
              </a:rPr>
              <a:t> </a:t>
            </a:r>
            <a:r>
              <a:rPr sz="4000" b="1" dirty="0">
                <a:solidFill>
                  <a:srgbClr val="FF3300"/>
                </a:solidFill>
              </a:rPr>
              <a:t>Overriding</a:t>
            </a:r>
            <a:r>
              <a:rPr sz="4000" b="1" spc="-40" dirty="0">
                <a:solidFill>
                  <a:srgbClr val="FF3300"/>
                </a:solidFill>
              </a:rPr>
              <a:t> </a:t>
            </a:r>
            <a:r>
              <a:rPr sz="4000" b="1" spc="-10" dirty="0">
                <a:solidFill>
                  <a:srgbClr val="FF3300"/>
                </a:solidFill>
              </a:rPr>
              <a:t>Rules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2408" y="2354326"/>
            <a:ext cx="10641965" cy="452755"/>
            <a:chOff x="832408" y="2354326"/>
            <a:chExt cx="10641965" cy="4527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408" y="2354326"/>
              <a:ext cx="2146173" cy="4526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8802" y="2354326"/>
              <a:ext cx="1639697" cy="4526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1053" y="2354326"/>
              <a:ext cx="3123819" cy="4526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1229" y="2354326"/>
              <a:ext cx="1691512" cy="4526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68156" y="2354326"/>
              <a:ext cx="2016759" cy="4526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68583" y="2354326"/>
              <a:ext cx="705510" cy="452627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832408" y="3085541"/>
            <a:ext cx="10120630" cy="453390"/>
            <a:chOff x="832408" y="3085541"/>
            <a:chExt cx="10120630" cy="453390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2408" y="3085541"/>
              <a:ext cx="6818883" cy="4529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76490" y="3085541"/>
              <a:ext cx="1942592" cy="45293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13163" y="3085541"/>
              <a:ext cx="1639316" cy="4529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18292" y="3085541"/>
              <a:ext cx="219913" cy="45293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60552" y="3865626"/>
            <a:ext cx="10386060" cy="5513070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 class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SuperClass</a:t>
            </a:r>
            <a:r>
              <a:rPr sz="18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//Overriden</a:t>
            </a:r>
            <a:r>
              <a:rPr sz="1800" spc="2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method</a:t>
            </a:r>
            <a:endParaRPr sz="1800" dirty="0">
              <a:latin typeface="Courier New"/>
              <a:cs typeface="Courier New"/>
            </a:endParaRPr>
          </a:p>
          <a:p>
            <a:pPr marL="1116965" marR="5080" indent="-553720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Integer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sum(Integer a,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Integer b)</a:t>
            </a:r>
            <a:r>
              <a:rPr sz="1800" spc="3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throws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FileNotFoundException</a:t>
            </a:r>
            <a:r>
              <a:rPr sz="1800" spc="2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return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+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1D1D1D"/>
                </a:solidFill>
                <a:latin typeface="Courier New"/>
                <a:cs typeface="Courier New"/>
              </a:rPr>
              <a:t>b;</a:t>
            </a:r>
            <a:endParaRPr sz="1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class</a:t>
            </a:r>
            <a:r>
              <a:rPr sz="1800" spc="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SubClass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extends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SuperClass</a:t>
            </a:r>
            <a:r>
              <a:rPr sz="1800" spc="1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//Overriding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method</a:t>
            </a:r>
            <a:endParaRPr sz="1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//Not valid;</a:t>
            </a:r>
            <a:r>
              <a:rPr sz="1800" spc="1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Compile time</a:t>
            </a:r>
            <a:r>
              <a:rPr sz="1800" spc="1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error</a:t>
            </a:r>
            <a:endParaRPr sz="1800" dirty="0">
              <a:latin typeface="Courier New"/>
              <a:cs typeface="Courier New"/>
            </a:endParaRPr>
          </a:p>
          <a:p>
            <a:pPr marL="1116965" marR="1387475" indent="-553720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Integer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sum(Integer a,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Integer b)</a:t>
            </a:r>
            <a:r>
              <a:rPr sz="1800" spc="3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throws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IOException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return</a:t>
            </a:r>
            <a:r>
              <a:rPr sz="1800" spc="10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+</a:t>
            </a:r>
            <a:r>
              <a:rPr sz="1800" spc="10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1D1D1D"/>
                </a:solidFill>
                <a:latin typeface="Courier New"/>
                <a:cs typeface="Courier New"/>
              </a:rPr>
              <a:t>b;</a:t>
            </a:r>
            <a:endParaRPr sz="1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//Exception</a:t>
            </a:r>
            <a:r>
              <a:rPr sz="1800" spc="2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IOException</a:t>
            </a:r>
            <a:r>
              <a:rPr sz="1800" spc="1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is</a:t>
            </a:r>
            <a:r>
              <a:rPr sz="18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not compatible with throws</a:t>
            </a:r>
            <a:r>
              <a:rPr sz="1800" spc="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clause</a:t>
            </a:r>
            <a:endParaRPr sz="1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//in</a:t>
            </a:r>
            <a:r>
              <a:rPr sz="18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SuperClass.sum(Integer,</a:t>
            </a:r>
            <a:r>
              <a:rPr sz="1800" spc="1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Integer)</a:t>
            </a:r>
            <a:endParaRPr sz="1800" dirty="0">
              <a:latin typeface="Courier New"/>
              <a:cs typeface="Courier New"/>
            </a:endParaRPr>
          </a:p>
          <a:p>
            <a:pPr marL="563880" marR="1256030">
              <a:lnSpc>
                <a:spcPct val="100000"/>
              </a:lnSpc>
              <a:tabLst>
                <a:tab pos="6366510" algn="l"/>
              </a:tabLst>
            </a:pP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//It's valid; Don't declare the exception at</a:t>
            </a:r>
            <a:r>
              <a:rPr sz="1800" spc="1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all</a:t>
            </a:r>
            <a:r>
              <a:rPr sz="1800" spc="10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E7100"/>
                </a:solidFill>
                <a:latin typeface="Courier New"/>
                <a:cs typeface="Courier New"/>
              </a:rPr>
              <a:t>is</a:t>
            </a:r>
            <a:r>
              <a:rPr sz="1800" spc="15" dirty="0">
                <a:solidFill>
                  <a:srgbClr val="0E71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E7100"/>
                </a:solidFill>
                <a:latin typeface="Courier New"/>
                <a:cs typeface="Courier New"/>
              </a:rPr>
              <a:t>permitted. </a:t>
            </a: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public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Integer sum(Integer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a, Integer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1D1D1D"/>
                </a:solidFill>
                <a:latin typeface="Courier New"/>
                <a:cs typeface="Courier New"/>
              </a:rPr>
              <a:t>b)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	</a:t>
            </a: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1116965">
              <a:lnSpc>
                <a:spcPct val="100000"/>
              </a:lnSpc>
            </a:pPr>
            <a:r>
              <a:rPr sz="1800" dirty="0">
                <a:solidFill>
                  <a:srgbClr val="095286"/>
                </a:solidFill>
                <a:latin typeface="Courier New"/>
                <a:cs typeface="Courier New"/>
              </a:rPr>
              <a:t>return</a:t>
            </a:r>
            <a:r>
              <a:rPr sz="1800" spc="5" dirty="0">
                <a:solidFill>
                  <a:srgbClr val="09528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a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D1D1D"/>
                </a:solidFill>
                <a:latin typeface="Courier New"/>
                <a:cs typeface="Courier New"/>
              </a:rPr>
              <a:t>+</a:t>
            </a:r>
            <a:r>
              <a:rPr sz="1800" spc="5" dirty="0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1D1D1D"/>
                </a:solidFill>
                <a:latin typeface="Courier New"/>
                <a:cs typeface="Courier New"/>
              </a:rPr>
              <a:t>b;</a:t>
            </a:r>
            <a:endParaRPr sz="1800" dirty="0">
              <a:latin typeface="Courier New"/>
              <a:cs typeface="Courier New"/>
            </a:endParaRPr>
          </a:p>
          <a:p>
            <a:pPr marL="56388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1D1D1D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708" y="1252855"/>
            <a:ext cx="53644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/>
              <a:t>Method</a:t>
            </a:r>
            <a:r>
              <a:rPr sz="4000" b="1" spc="-25" dirty="0"/>
              <a:t> </a:t>
            </a:r>
            <a:r>
              <a:rPr sz="4000" b="1" dirty="0"/>
              <a:t>Overriding</a:t>
            </a:r>
            <a:r>
              <a:rPr sz="4000" b="1" spc="-40" dirty="0"/>
              <a:t> </a:t>
            </a:r>
            <a:r>
              <a:rPr sz="4000" b="1" spc="-10" dirty="0"/>
              <a:t>Rules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2408" y="2354326"/>
            <a:ext cx="11484610" cy="452755"/>
            <a:chOff x="832408" y="2354326"/>
            <a:chExt cx="11484610" cy="4527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408" y="2354326"/>
              <a:ext cx="2146173" cy="4526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8802" y="2354326"/>
              <a:ext cx="1639697" cy="4526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1053" y="2354326"/>
              <a:ext cx="3316351" cy="4526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93254" y="2354326"/>
              <a:ext cx="1337436" cy="4526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26423" y="2354326"/>
              <a:ext cx="1241755" cy="4526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48087" y="2354326"/>
              <a:ext cx="701040" cy="4526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73868" y="2354326"/>
              <a:ext cx="1942592" cy="452627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832408" y="3085541"/>
            <a:ext cx="1640205" cy="453390"/>
            <a:chOff x="832408" y="3085541"/>
            <a:chExt cx="1640205" cy="453390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2408" y="3085541"/>
              <a:ext cx="1639697" cy="45293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37866" y="3085541"/>
              <a:ext cx="221742" cy="452932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ln>
            <a:solidFill>
              <a:srgbClr val="FF33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public class</a:t>
            </a:r>
            <a:r>
              <a:rPr spc="10" dirty="0"/>
              <a:t> </a:t>
            </a:r>
            <a:r>
              <a:rPr dirty="0">
                <a:solidFill>
                  <a:srgbClr val="1D1D1D"/>
                </a:solidFill>
              </a:rPr>
              <a:t>SuperClass</a:t>
            </a:r>
            <a:r>
              <a:rPr spc="15" dirty="0">
                <a:solidFill>
                  <a:srgbClr val="1D1D1D"/>
                </a:solidFill>
              </a:rPr>
              <a:t> </a:t>
            </a:r>
            <a:r>
              <a:rPr spc="-50" dirty="0">
                <a:solidFill>
                  <a:srgbClr val="1D1D1D"/>
                </a:solidFill>
              </a:rPr>
              <a:t>{</a:t>
            </a:r>
          </a:p>
          <a:p>
            <a:pPr marL="563880">
              <a:lnSpc>
                <a:spcPct val="100000"/>
              </a:lnSpc>
            </a:pPr>
            <a:r>
              <a:rPr dirty="0">
                <a:solidFill>
                  <a:srgbClr val="0E7100"/>
                </a:solidFill>
              </a:rPr>
              <a:t>//Overriden</a:t>
            </a:r>
            <a:r>
              <a:rPr spc="20" dirty="0">
                <a:solidFill>
                  <a:srgbClr val="0E7100"/>
                </a:solidFill>
              </a:rPr>
              <a:t> </a:t>
            </a:r>
            <a:r>
              <a:rPr spc="-10" dirty="0">
                <a:solidFill>
                  <a:srgbClr val="0E7100"/>
                </a:solidFill>
              </a:rPr>
              <a:t>method</a:t>
            </a:r>
          </a:p>
          <a:p>
            <a:pPr marL="1116965" marR="3460750" indent="-553720">
              <a:lnSpc>
                <a:spcPct val="100000"/>
              </a:lnSpc>
            </a:pPr>
            <a:r>
              <a:rPr dirty="0"/>
              <a:t>protected</a:t>
            </a:r>
            <a:r>
              <a:rPr spc="-5" dirty="0"/>
              <a:t> </a:t>
            </a:r>
            <a:r>
              <a:rPr dirty="0">
                <a:solidFill>
                  <a:srgbClr val="1D1D1D"/>
                </a:solidFill>
              </a:rPr>
              <a:t>Integer</a:t>
            </a:r>
            <a:r>
              <a:rPr spc="5" dirty="0">
                <a:solidFill>
                  <a:srgbClr val="1D1D1D"/>
                </a:solidFill>
              </a:rPr>
              <a:t> </a:t>
            </a:r>
            <a:r>
              <a:rPr dirty="0">
                <a:solidFill>
                  <a:srgbClr val="1D1D1D"/>
                </a:solidFill>
              </a:rPr>
              <a:t>sum(Integer</a:t>
            </a:r>
            <a:r>
              <a:rPr spc="5" dirty="0">
                <a:solidFill>
                  <a:srgbClr val="1D1D1D"/>
                </a:solidFill>
              </a:rPr>
              <a:t> </a:t>
            </a:r>
            <a:r>
              <a:rPr dirty="0">
                <a:solidFill>
                  <a:srgbClr val="1D1D1D"/>
                </a:solidFill>
              </a:rPr>
              <a:t>a,</a:t>
            </a:r>
            <a:r>
              <a:rPr spc="5" dirty="0">
                <a:solidFill>
                  <a:srgbClr val="1D1D1D"/>
                </a:solidFill>
              </a:rPr>
              <a:t> </a:t>
            </a:r>
            <a:r>
              <a:rPr dirty="0">
                <a:solidFill>
                  <a:srgbClr val="1D1D1D"/>
                </a:solidFill>
              </a:rPr>
              <a:t>Integer</a:t>
            </a:r>
            <a:r>
              <a:rPr spc="5" dirty="0">
                <a:solidFill>
                  <a:srgbClr val="1D1D1D"/>
                </a:solidFill>
              </a:rPr>
              <a:t> </a:t>
            </a:r>
            <a:r>
              <a:rPr dirty="0">
                <a:solidFill>
                  <a:srgbClr val="1D1D1D"/>
                </a:solidFill>
              </a:rPr>
              <a:t>b)</a:t>
            </a:r>
            <a:r>
              <a:rPr spc="10" dirty="0">
                <a:solidFill>
                  <a:srgbClr val="1D1D1D"/>
                </a:solidFill>
              </a:rPr>
              <a:t> </a:t>
            </a:r>
            <a:r>
              <a:rPr spc="-50" dirty="0">
                <a:solidFill>
                  <a:srgbClr val="1D1D1D"/>
                </a:solidFill>
              </a:rPr>
              <a:t>{ </a:t>
            </a:r>
            <a:r>
              <a:rPr dirty="0"/>
              <a:t>return</a:t>
            </a:r>
            <a:r>
              <a:rPr spc="10" dirty="0"/>
              <a:t> </a:t>
            </a:r>
            <a:r>
              <a:rPr dirty="0">
                <a:solidFill>
                  <a:srgbClr val="1D1D1D"/>
                </a:solidFill>
              </a:rPr>
              <a:t>a</a:t>
            </a:r>
            <a:r>
              <a:rPr spc="5" dirty="0">
                <a:solidFill>
                  <a:srgbClr val="1D1D1D"/>
                </a:solidFill>
              </a:rPr>
              <a:t> </a:t>
            </a:r>
            <a:r>
              <a:rPr dirty="0">
                <a:solidFill>
                  <a:srgbClr val="1D1D1D"/>
                </a:solidFill>
              </a:rPr>
              <a:t>+</a:t>
            </a:r>
            <a:r>
              <a:rPr spc="10" dirty="0">
                <a:solidFill>
                  <a:srgbClr val="1D1D1D"/>
                </a:solidFill>
              </a:rPr>
              <a:t> </a:t>
            </a:r>
            <a:r>
              <a:rPr spc="-25" dirty="0">
                <a:solidFill>
                  <a:srgbClr val="1D1D1D"/>
                </a:solidFill>
              </a:rPr>
              <a:t>b;</a:t>
            </a:r>
          </a:p>
          <a:p>
            <a:pPr marL="563880">
              <a:lnSpc>
                <a:spcPct val="100000"/>
              </a:lnSpc>
            </a:pPr>
            <a:r>
              <a:rPr spc="-50" dirty="0">
                <a:solidFill>
                  <a:srgbClr val="1D1D1D"/>
                </a:solidFill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pc="-50" dirty="0">
                <a:solidFill>
                  <a:srgbClr val="1D1D1D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pc="-50" dirty="0">
              <a:solidFill>
                <a:srgbClr val="1D1D1D"/>
              </a:solidFill>
            </a:endParaRPr>
          </a:p>
          <a:p>
            <a:pPr marL="12700">
              <a:lnSpc>
                <a:spcPct val="100000"/>
              </a:lnSpc>
            </a:pPr>
            <a:r>
              <a:rPr dirty="0"/>
              <a:t>class</a:t>
            </a:r>
            <a:r>
              <a:rPr spc="5" dirty="0"/>
              <a:t> </a:t>
            </a:r>
            <a:r>
              <a:rPr dirty="0">
                <a:solidFill>
                  <a:srgbClr val="1D1D1D"/>
                </a:solidFill>
              </a:rPr>
              <a:t>SubClass</a:t>
            </a:r>
            <a:r>
              <a:rPr spc="10" dirty="0">
                <a:solidFill>
                  <a:srgbClr val="1D1D1D"/>
                </a:solidFill>
              </a:rPr>
              <a:t> </a:t>
            </a:r>
            <a:r>
              <a:rPr dirty="0"/>
              <a:t>extends</a:t>
            </a:r>
            <a:r>
              <a:rPr spc="10" dirty="0"/>
              <a:t> </a:t>
            </a:r>
            <a:r>
              <a:rPr dirty="0">
                <a:solidFill>
                  <a:srgbClr val="1D1D1D"/>
                </a:solidFill>
              </a:rPr>
              <a:t>SuperClass</a:t>
            </a:r>
            <a:r>
              <a:rPr spc="15" dirty="0">
                <a:solidFill>
                  <a:srgbClr val="1D1D1D"/>
                </a:solidFill>
              </a:rPr>
              <a:t> </a:t>
            </a:r>
            <a:r>
              <a:rPr spc="-50" dirty="0">
                <a:solidFill>
                  <a:srgbClr val="1D1D1D"/>
                </a:solidFill>
              </a:rPr>
              <a:t>{</a:t>
            </a:r>
          </a:p>
          <a:p>
            <a:pPr marL="563880">
              <a:lnSpc>
                <a:spcPct val="100000"/>
              </a:lnSpc>
            </a:pPr>
            <a:r>
              <a:rPr dirty="0">
                <a:solidFill>
                  <a:srgbClr val="0E7100"/>
                </a:solidFill>
              </a:rPr>
              <a:t>//Overriding</a:t>
            </a:r>
            <a:r>
              <a:rPr spc="5" dirty="0">
                <a:solidFill>
                  <a:srgbClr val="0E7100"/>
                </a:solidFill>
              </a:rPr>
              <a:t> </a:t>
            </a:r>
            <a:r>
              <a:rPr spc="-10" dirty="0">
                <a:solidFill>
                  <a:srgbClr val="0E7100"/>
                </a:solidFill>
              </a:rPr>
              <a:t>method</a:t>
            </a:r>
          </a:p>
          <a:p>
            <a:pPr marL="563880">
              <a:lnSpc>
                <a:spcPct val="100000"/>
              </a:lnSpc>
            </a:pPr>
            <a:r>
              <a:rPr dirty="0">
                <a:solidFill>
                  <a:srgbClr val="0E7100"/>
                </a:solidFill>
              </a:rPr>
              <a:t>//Not valid;</a:t>
            </a:r>
            <a:r>
              <a:rPr spc="15" dirty="0">
                <a:solidFill>
                  <a:srgbClr val="0E7100"/>
                </a:solidFill>
              </a:rPr>
              <a:t> </a:t>
            </a:r>
            <a:r>
              <a:rPr dirty="0">
                <a:solidFill>
                  <a:srgbClr val="0E7100"/>
                </a:solidFill>
              </a:rPr>
              <a:t>Compile time</a:t>
            </a:r>
            <a:r>
              <a:rPr spc="15" dirty="0">
                <a:solidFill>
                  <a:srgbClr val="0E7100"/>
                </a:solidFill>
              </a:rPr>
              <a:t> </a:t>
            </a:r>
            <a:r>
              <a:rPr spc="-10" dirty="0">
                <a:solidFill>
                  <a:srgbClr val="0E7100"/>
                </a:solidFill>
              </a:rPr>
              <a:t>error:</a:t>
            </a:r>
          </a:p>
          <a:p>
            <a:pPr marL="563880" marR="5080">
              <a:lnSpc>
                <a:spcPct val="100000"/>
              </a:lnSpc>
              <a:tabLst>
                <a:tab pos="6503670" algn="l"/>
              </a:tabLst>
            </a:pPr>
            <a:r>
              <a:rPr dirty="0">
                <a:solidFill>
                  <a:srgbClr val="0E7100"/>
                </a:solidFill>
              </a:rPr>
              <a:t>//Cannot</a:t>
            </a:r>
            <a:r>
              <a:rPr spc="-15" dirty="0">
                <a:solidFill>
                  <a:srgbClr val="0E7100"/>
                </a:solidFill>
              </a:rPr>
              <a:t> </a:t>
            </a:r>
            <a:r>
              <a:rPr dirty="0">
                <a:solidFill>
                  <a:srgbClr val="0E7100"/>
                </a:solidFill>
              </a:rPr>
              <a:t>reduce</a:t>
            </a:r>
            <a:r>
              <a:rPr spc="5" dirty="0">
                <a:solidFill>
                  <a:srgbClr val="0E7100"/>
                </a:solidFill>
              </a:rPr>
              <a:t> </a:t>
            </a:r>
            <a:r>
              <a:rPr dirty="0">
                <a:solidFill>
                  <a:srgbClr val="0E7100"/>
                </a:solidFill>
              </a:rPr>
              <a:t>the visibility</a:t>
            </a:r>
            <a:r>
              <a:rPr spc="-5" dirty="0">
                <a:solidFill>
                  <a:srgbClr val="0E7100"/>
                </a:solidFill>
              </a:rPr>
              <a:t> </a:t>
            </a:r>
            <a:r>
              <a:rPr dirty="0">
                <a:solidFill>
                  <a:srgbClr val="0E7100"/>
                </a:solidFill>
              </a:rPr>
              <a:t>of</a:t>
            </a:r>
            <a:r>
              <a:rPr spc="15" dirty="0">
                <a:solidFill>
                  <a:srgbClr val="0E7100"/>
                </a:solidFill>
              </a:rPr>
              <a:t> </a:t>
            </a:r>
            <a:r>
              <a:rPr dirty="0">
                <a:solidFill>
                  <a:srgbClr val="0E7100"/>
                </a:solidFill>
              </a:rPr>
              <a:t>the</a:t>
            </a:r>
            <a:r>
              <a:rPr spc="5" dirty="0">
                <a:solidFill>
                  <a:srgbClr val="0E7100"/>
                </a:solidFill>
              </a:rPr>
              <a:t> </a:t>
            </a:r>
            <a:r>
              <a:rPr dirty="0">
                <a:solidFill>
                  <a:srgbClr val="0E7100"/>
                </a:solidFill>
              </a:rPr>
              <a:t>inherited</a:t>
            </a:r>
            <a:r>
              <a:rPr spc="10" dirty="0">
                <a:solidFill>
                  <a:srgbClr val="0E7100"/>
                </a:solidFill>
              </a:rPr>
              <a:t> </a:t>
            </a:r>
            <a:r>
              <a:rPr dirty="0">
                <a:solidFill>
                  <a:srgbClr val="0E7100"/>
                </a:solidFill>
              </a:rPr>
              <a:t>method</a:t>
            </a:r>
            <a:r>
              <a:rPr spc="5" dirty="0">
                <a:solidFill>
                  <a:srgbClr val="0E7100"/>
                </a:solidFill>
              </a:rPr>
              <a:t> </a:t>
            </a:r>
            <a:r>
              <a:rPr dirty="0">
                <a:solidFill>
                  <a:srgbClr val="0E7100"/>
                </a:solidFill>
              </a:rPr>
              <a:t>from</a:t>
            </a:r>
            <a:r>
              <a:rPr spc="60" dirty="0">
                <a:solidFill>
                  <a:srgbClr val="0E7100"/>
                </a:solidFill>
              </a:rPr>
              <a:t> </a:t>
            </a:r>
            <a:r>
              <a:rPr spc="-10" dirty="0">
                <a:solidFill>
                  <a:srgbClr val="0E7100"/>
                </a:solidFill>
              </a:rPr>
              <a:t>SuperClass </a:t>
            </a:r>
            <a:r>
              <a:rPr dirty="0"/>
              <a:t>private</a:t>
            </a:r>
            <a:r>
              <a:rPr spc="20" dirty="0"/>
              <a:t> </a:t>
            </a:r>
            <a:r>
              <a:rPr dirty="0">
                <a:solidFill>
                  <a:srgbClr val="1D1D1D"/>
                </a:solidFill>
              </a:rPr>
              <a:t>Integer</a:t>
            </a:r>
            <a:r>
              <a:rPr spc="20" dirty="0">
                <a:solidFill>
                  <a:srgbClr val="1D1D1D"/>
                </a:solidFill>
              </a:rPr>
              <a:t> </a:t>
            </a:r>
            <a:r>
              <a:rPr dirty="0">
                <a:solidFill>
                  <a:srgbClr val="1D1D1D"/>
                </a:solidFill>
              </a:rPr>
              <a:t>sum(Integer</a:t>
            </a:r>
            <a:r>
              <a:rPr spc="15" dirty="0">
                <a:solidFill>
                  <a:srgbClr val="1D1D1D"/>
                </a:solidFill>
              </a:rPr>
              <a:t> </a:t>
            </a:r>
            <a:r>
              <a:rPr dirty="0">
                <a:solidFill>
                  <a:srgbClr val="1D1D1D"/>
                </a:solidFill>
              </a:rPr>
              <a:t>a,</a:t>
            </a:r>
            <a:r>
              <a:rPr spc="20" dirty="0">
                <a:solidFill>
                  <a:srgbClr val="1D1D1D"/>
                </a:solidFill>
              </a:rPr>
              <a:t> </a:t>
            </a:r>
            <a:r>
              <a:rPr dirty="0">
                <a:solidFill>
                  <a:srgbClr val="1D1D1D"/>
                </a:solidFill>
              </a:rPr>
              <a:t>Integer</a:t>
            </a:r>
            <a:r>
              <a:rPr spc="20" dirty="0">
                <a:solidFill>
                  <a:srgbClr val="1D1D1D"/>
                </a:solidFill>
              </a:rPr>
              <a:t> </a:t>
            </a:r>
            <a:r>
              <a:rPr spc="-25" dirty="0">
                <a:solidFill>
                  <a:srgbClr val="1D1D1D"/>
                </a:solidFill>
              </a:rPr>
              <a:t>b)</a:t>
            </a:r>
            <a:r>
              <a:rPr dirty="0">
                <a:solidFill>
                  <a:srgbClr val="1D1D1D"/>
                </a:solidFill>
              </a:rPr>
              <a:t>	</a:t>
            </a:r>
            <a:r>
              <a:rPr spc="-50" dirty="0">
                <a:solidFill>
                  <a:srgbClr val="1D1D1D"/>
                </a:solidFill>
              </a:rPr>
              <a:t>{</a:t>
            </a:r>
          </a:p>
          <a:p>
            <a:pPr marL="1116965">
              <a:lnSpc>
                <a:spcPct val="100000"/>
              </a:lnSpc>
            </a:pPr>
            <a:r>
              <a:rPr dirty="0"/>
              <a:t>return</a:t>
            </a:r>
            <a:r>
              <a:rPr spc="5" dirty="0"/>
              <a:t> </a:t>
            </a:r>
            <a:r>
              <a:rPr dirty="0">
                <a:solidFill>
                  <a:srgbClr val="1D1D1D"/>
                </a:solidFill>
              </a:rPr>
              <a:t>a</a:t>
            </a:r>
            <a:r>
              <a:rPr spc="5" dirty="0">
                <a:solidFill>
                  <a:srgbClr val="1D1D1D"/>
                </a:solidFill>
              </a:rPr>
              <a:t> </a:t>
            </a:r>
            <a:r>
              <a:rPr dirty="0">
                <a:solidFill>
                  <a:srgbClr val="1D1D1D"/>
                </a:solidFill>
              </a:rPr>
              <a:t>+</a:t>
            </a:r>
            <a:r>
              <a:rPr spc="5" dirty="0">
                <a:solidFill>
                  <a:srgbClr val="1D1D1D"/>
                </a:solidFill>
              </a:rPr>
              <a:t> </a:t>
            </a:r>
            <a:r>
              <a:rPr spc="-25" dirty="0">
                <a:solidFill>
                  <a:srgbClr val="1D1D1D"/>
                </a:solidFill>
              </a:rPr>
              <a:t>b;</a:t>
            </a:r>
          </a:p>
          <a:p>
            <a:pPr marL="563880">
              <a:lnSpc>
                <a:spcPct val="100000"/>
              </a:lnSpc>
              <a:spcBef>
                <a:spcPts val="5"/>
              </a:spcBef>
            </a:pPr>
            <a:r>
              <a:rPr spc="-50" dirty="0">
                <a:solidFill>
                  <a:srgbClr val="1D1D1D"/>
                </a:solidFill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pc="-50" dirty="0">
                <a:solidFill>
                  <a:srgbClr val="1D1D1D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708" y="1252855"/>
            <a:ext cx="53644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FF3300"/>
                </a:solidFill>
              </a:rPr>
              <a:t>@Overriding</a:t>
            </a:r>
            <a:r>
              <a:rPr sz="4000" b="1" spc="-70" dirty="0">
                <a:solidFill>
                  <a:srgbClr val="FF3300"/>
                </a:solidFill>
              </a:rPr>
              <a:t> </a:t>
            </a:r>
            <a:r>
              <a:rPr sz="4000" b="1" spc="-10" dirty="0">
                <a:solidFill>
                  <a:srgbClr val="FF3300"/>
                </a:solidFill>
              </a:rPr>
              <a:t>annotation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2408" y="2354326"/>
            <a:ext cx="11025505" cy="452755"/>
            <a:chOff x="832408" y="2354326"/>
            <a:chExt cx="11025505" cy="4527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408" y="2354326"/>
              <a:ext cx="7388859" cy="4526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57133" y="2354326"/>
              <a:ext cx="1968373" cy="4526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46563" y="2354326"/>
              <a:ext cx="2011299" cy="452627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832408" y="3085541"/>
            <a:ext cx="6631305" cy="453390"/>
            <a:chOff x="832408" y="3085541"/>
            <a:chExt cx="6631305" cy="45339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408" y="3085541"/>
              <a:ext cx="1013523" cy="4529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51711" y="3085541"/>
              <a:ext cx="5711952" cy="4529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5741" y="2656332"/>
            <a:ext cx="10100310" cy="2155190"/>
            <a:chOff x="675741" y="2656332"/>
            <a:chExt cx="10100310" cy="2155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741" y="2656332"/>
              <a:ext cx="9983343" cy="5090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741" y="3204972"/>
              <a:ext cx="6049772" cy="5090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5741" y="3753866"/>
              <a:ext cx="10051923" cy="5090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26521" y="3753866"/>
              <a:ext cx="249174" cy="5090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741" y="4302505"/>
              <a:ext cx="2841244" cy="50901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5741" y="740359"/>
            <a:ext cx="2478786" cy="826312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672083" y="525780"/>
            <a:ext cx="2159635" cy="125095"/>
          </a:xfrm>
          <a:custGeom>
            <a:avLst/>
            <a:gdLst/>
            <a:ahLst/>
            <a:cxnLst/>
            <a:rect l="l" t="t" r="r" b="b"/>
            <a:pathLst>
              <a:path w="2159635" h="125095">
                <a:moveTo>
                  <a:pt x="2159507" y="0"/>
                </a:moveTo>
                <a:lnTo>
                  <a:pt x="0" y="0"/>
                </a:lnTo>
                <a:lnTo>
                  <a:pt x="0" y="124968"/>
                </a:lnTo>
                <a:lnTo>
                  <a:pt x="2159507" y="124968"/>
                </a:lnTo>
                <a:lnTo>
                  <a:pt x="21595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63041" y="1923999"/>
            <a:ext cx="23488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3300"/>
                </a:solidFill>
              </a:rPr>
              <a:t>Recordemos</a:t>
            </a:r>
          </a:p>
        </p:txBody>
      </p:sp>
      <p:sp>
        <p:nvSpPr>
          <p:cNvPr id="11" name="object 11"/>
          <p:cNvSpPr/>
          <p:nvPr/>
        </p:nvSpPr>
        <p:spPr>
          <a:xfrm>
            <a:off x="11538749" y="8153659"/>
            <a:ext cx="646430" cy="912494"/>
          </a:xfrm>
          <a:custGeom>
            <a:avLst/>
            <a:gdLst/>
            <a:ahLst/>
            <a:cxnLst/>
            <a:rect l="l" t="t" r="r" b="b"/>
            <a:pathLst>
              <a:path w="646429" h="912495">
                <a:moveTo>
                  <a:pt x="380812" y="0"/>
                </a:moveTo>
                <a:lnTo>
                  <a:pt x="290440" y="1044"/>
                </a:lnTo>
                <a:lnTo>
                  <a:pt x="179958" y="38888"/>
                </a:lnTo>
                <a:lnTo>
                  <a:pt x="122588" y="68303"/>
                </a:lnTo>
                <a:lnTo>
                  <a:pt x="79270" y="102505"/>
                </a:lnTo>
                <a:lnTo>
                  <a:pt x="48101" y="139898"/>
                </a:lnTo>
                <a:lnTo>
                  <a:pt x="27163" y="178917"/>
                </a:lnTo>
                <a:lnTo>
                  <a:pt x="14579" y="217901"/>
                </a:lnTo>
                <a:lnTo>
                  <a:pt x="6921" y="286873"/>
                </a:lnTo>
                <a:lnTo>
                  <a:pt x="6800" y="345730"/>
                </a:lnTo>
                <a:lnTo>
                  <a:pt x="6440" y="346747"/>
                </a:lnTo>
                <a:lnTo>
                  <a:pt x="6196" y="347662"/>
                </a:lnTo>
                <a:lnTo>
                  <a:pt x="5891" y="348373"/>
                </a:lnTo>
                <a:lnTo>
                  <a:pt x="3307" y="358377"/>
                </a:lnTo>
                <a:lnTo>
                  <a:pt x="3904" y="374500"/>
                </a:lnTo>
                <a:lnTo>
                  <a:pt x="9186" y="407817"/>
                </a:lnTo>
                <a:lnTo>
                  <a:pt x="20657" y="469402"/>
                </a:lnTo>
                <a:lnTo>
                  <a:pt x="15513" y="470917"/>
                </a:lnTo>
                <a:lnTo>
                  <a:pt x="10913" y="474063"/>
                </a:lnTo>
                <a:lnTo>
                  <a:pt x="7465" y="478668"/>
                </a:lnTo>
                <a:lnTo>
                  <a:pt x="91" y="501065"/>
                </a:lnTo>
                <a:lnTo>
                  <a:pt x="0" y="501342"/>
                </a:lnTo>
                <a:lnTo>
                  <a:pt x="460" y="525424"/>
                </a:lnTo>
                <a:lnTo>
                  <a:pt x="573" y="530458"/>
                </a:lnTo>
                <a:lnTo>
                  <a:pt x="5169" y="558094"/>
                </a:lnTo>
                <a:lnTo>
                  <a:pt x="9887" y="577023"/>
                </a:lnTo>
                <a:lnTo>
                  <a:pt x="14218" y="595904"/>
                </a:lnTo>
                <a:lnTo>
                  <a:pt x="20301" y="610789"/>
                </a:lnTo>
                <a:lnTo>
                  <a:pt x="27440" y="622130"/>
                </a:lnTo>
                <a:lnTo>
                  <a:pt x="34962" y="630503"/>
                </a:lnTo>
                <a:lnTo>
                  <a:pt x="46283" y="681596"/>
                </a:lnTo>
                <a:lnTo>
                  <a:pt x="64973" y="729566"/>
                </a:lnTo>
                <a:lnTo>
                  <a:pt x="89935" y="773547"/>
                </a:lnTo>
                <a:lnTo>
                  <a:pt x="120099" y="812798"/>
                </a:lnTo>
                <a:lnTo>
                  <a:pt x="154395" y="846577"/>
                </a:lnTo>
                <a:lnTo>
                  <a:pt x="191753" y="874141"/>
                </a:lnTo>
                <a:lnTo>
                  <a:pt x="231101" y="894749"/>
                </a:lnTo>
                <a:lnTo>
                  <a:pt x="271371" y="907658"/>
                </a:lnTo>
                <a:lnTo>
                  <a:pt x="311491" y="912126"/>
                </a:lnTo>
                <a:lnTo>
                  <a:pt x="357481" y="907241"/>
                </a:lnTo>
                <a:lnTo>
                  <a:pt x="402087" y="893292"/>
                </a:lnTo>
                <a:lnTo>
                  <a:pt x="444477" y="871332"/>
                </a:lnTo>
                <a:lnTo>
                  <a:pt x="483818" y="842420"/>
                </a:lnTo>
                <a:lnTo>
                  <a:pt x="519278" y="807609"/>
                </a:lnTo>
                <a:lnTo>
                  <a:pt x="550026" y="767956"/>
                </a:lnTo>
                <a:lnTo>
                  <a:pt x="575229" y="724517"/>
                </a:lnTo>
                <a:lnTo>
                  <a:pt x="594055" y="678347"/>
                </a:lnTo>
                <a:lnTo>
                  <a:pt x="605671" y="630503"/>
                </a:lnTo>
                <a:lnTo>
                  <a:pt x="613128" y="622420"/>
                </a:lnTo>
                <a:lnTo>
                  <a:pt x="620237" y="611363"/>
                </a:lnTo>
                <a:lnTo>
                  <a:pt x="626271" y="596946"/>
                </a:lnTo>
                <a:lnTo>
                  <a:pt x="626862" y="594406"/>
                </a:lnTo>
                <a:lnTo>
                  <a:pt x="322804" y="594406"/>
                </a:lnTo>
                <a:lnTo>
                  <a:pt x="272890" y="587667"/>
                </a:lnTo>
                <a:lnTo>
                  <a:pt x="227992" y="568657"/>
                </a:lnTo>
                <a:lnTo>
                  <a:pt x="189920" y="539186"/>
                </a:lnTo>
                <a:lnTo>
                  <a:pt x="160484" y="501065"/>
                </a:lnTo>
                <a:lnTo>
                  <a:pt x="141495" y="456103"/>
                </a:lnTo>
                <a:lnTo>
                  <a:pt x="134763" y="406113"/>
                </a:lnTo>
                <a:lnTo>
                  <a:pt x="141331" y="357370"/>
                </a:lnTo>
                <a:lnTo>
                  <a:pt x="141434" y="356607"/>
                </a:lnTo>
                <a:lnTo>
                  <a:pt x="141482" y="356252"/>
                </a:lnTo>
                <a:lnTo>
                  <a:pt x="160484" y="311211"/>
                </a:lnTo>
                <a:lnTo>
                  <a:pt x="189919" y="273105"/>
                </a:lnTo>
                <a:lnTo>
                  <a:pt x="227991" y="243644"/>
                </a:lnTo>
                <a:lnTo>
                  <a:pt x="272889" y="224638"/>
                </a:lnTo>
                <a:lnTo>
                  <a:pt x="322803" y="217901"/>
                </a:lnTo>
                <a:lnTo>
                  <a:pt x="343570" y="217901"/>
                </a:lnTo>
                <a:lnTo>
                  <a:pt x="343570" y="184711"/>
                </a:lnTo>
                <a:lnTo>
                  <a:pt x="345957" y="181102"/>
                </a:lnTo>
                <a:lnTo>
                  <a:pt x="349613" y="179577"/>
                </a:lnTo>
                <a:lnTo>
                  <a:pt x="353319" y="178154"/>
                </a:lnTo>
                <a:lnTo>
                  <a:pt x="618038" y="178154"/>
                </a:lnTo>
                <a:lnTo>
                  <a:pt x="615297" y="168028"/>
                </a:lnTo>
                <a:lnTo>
                  <a:pt x="597350" y="122225"/>
                </a:lnTo>
                <a:lnTo>
                  <a:pt x="573580" y="80752"/>
                </a:lnTo>
                <a:lnTo>
                  <a:pt x="543674" y="47813"/>
                </a:lnTo>
                <a:lnTo>
                  <a:pt x="507322" y="27611"/>
                </a:lnTo>
                <a:lnTo>
                  <a:pt x="464212" y="24352"/>
                </a:lnTo>
                <a:lnTo>
                  <a:pt x="441820" y="14766"/>
                </a:lnTo>
                <a:lnTo>
                  <a:pt x="380812" y="0"/>
                </a:lnTo>
                <a:close/>
              </a:path>
              <a:path w="646429" h="912495">
                <a:moveTo>
                  <a:pt x="641370" y="396405"/>
                </a:moveTo>
                <a:lnTo>
                  <a:pt x="506508" y="396405"/>
                </a:lnTo>
                <a:lnTo>
                  <a:pt x="510823" y="400776"/>
                </a:lnTo>
                <a:lnTo>
                  <a:pt x="510823" y="406113"/>
                </a:lnTo>
                <a:lnTo>
                  <a:pt x="504131" y="456103"/>
                </a:lnTo>
                <a:lnTo>
                  <a:pt x="485163" y="501065"/>
                </a:lnTo>
                <a:lnTo>
                  <a:pt x="455733" y="539186"/>
                </a:lnTo>
                <a:lnTo>
                  <a:pt x="417653" y="568657"/>
                </a:lnTo>
                <a:lnTo>
                  <a:pt x="372739" y="587667"/>
                </a:lnTo>
                <a:lnTo>
                  <a:pt x="322804" y="594406"/>
                </a:lnTo>
                <a:lnTo>
                  <a:pt x="626862" y="594406"/>
                </a:lnTo>
                <a:lnTo>
                  <a:pt x="630500" y="578782"/>
                </a:lnTo>
                <a:lnTo>
                  <a:pt x="635463" y="558766"/>
                </a:lnTo>
                <a:lnTo>
                  <a:pt x="640198" y="530458"/>
                </a:lnTo>
                <a:lnTo>
                  <a:pt x="640780" y="501342"/>
                </a:lnTo>
                <a:lnTo>
                  <a:pt x="640720" y="501065"/>
                </a:lnTo>
                <a:lnTo>
                  <a:pt x="633333" y="478668"/>
                </a:lnTo>
                <a:lnTo>
                  <a:pt x="631211" y="475761"/>
                </a:lnTo>
                <a:lnTo>
                  <a:pt x="628825" y="473519"/>
                </a:lnTo>
                <a:lnTo>
                  <a:pt x="625930" y="471883"/>
                </a:lnTo>
                <a:lnTo>
                  <a:pt x="631812" y="449707"/>
                </a:lnTo>
                <a:lnTo>
                  <a:pt x="637532" y="422509"/>
                </a:lnTo>
                <a:lnTo>
                  <a:pt x="641370" y="396405"/>
                </a:lnTo>
                <a:close/>
              </a:path>
              <a:path w="646429" h="912495">
                <a:moveTo>
                  <a:pt x="329704" y="286873"/>
                </a:moveTo>
                <a:lnTo>
                  <a:pt x="322803" y="286873"/>
                </a:lnTo>
                <a:lnTo>
                  <a:pt x="276497" y="296255"/>
                </a:lnTo>
                <a:lnTo>
                  <a:pt x="238624" y="321829"/>
                </a:lnTo>
                <a:lnTo>
                  <a:pt x="213058" y="359735"/>
                </a:lnTo>
                <a:lnTo>
                  <a:pt x="203675" y="406113"/>
                </a:lnTo>
                <a:lnTo>
                  <a:pt x="213050" y="452476"/>
                </a:lnTo>
                <a:lnTo>
                  <a:pt x="238601" y="490409"/>
                </a:lnTo>
                <a:lnTo>
                  <a:pt x="276471" y="516022"/>
                </a:lnTo>
                <a:lnTo>
                  <a:pt x="322804" y="525424"/>
                </a:lnTo>
                <a:lnTo>
                  <a:pt x="369091" y="516022"/>
                </a:lnTo>
                <a:lnTo>
                  <a:pt x="406963" y="490409"/>
                </a:lnTo>
                <a:lnTo>
                  <a:pt x="432535" y="452476"/>
                </a:lnTo>
                <a:lnTo>
                  <a:pt x="441922" y="406113"/>
                </a:lnTo>
                <a:lnTo>
                  <a:pt x="441922" y="400776"/>
                </a:lnTo>
                <a:lnTo>
                  <a:pt x="446288" y="396405"/>
                </a:lnTo>
                <a:lnTo>
                  <a:pt x="641370" y="396405"/>
                </a:lnTo>
                <a:lnTo>
                  <a:pt x="642110" y="391370"/>
                </a:lnTo>
                <a:lnTo>
                  <a:pt x="644394" y="359735"/>
                </a:lnTo>
                <a:lnTo>
                  <a:pt x="644492" y="358377"/>
                </a:lnTo>
                <a:lnTo>
                  <a:pt x="644565" y="357370"/>
                </a:lnTo>
                <a:lnTo>
                  <a:pt x="645123" y="356912"/>
                </a:lnTo>
                <a:lnTo>
                  <a:pt x="645783" y="356607"/>
                </a:lnTo>
                <a:lnTo>
                  <a:pt x="646240" y="356252"/>
                </a:lnTo>
                <a:lnTo>
                  <a:pt x="644514" y="353558"/>
                </a:lnTo>
                <a:lnTo>
                  <a:pt x="644650" y="348373"/>
                </a:lnTo>
                <a:lnTo>
                  <a:pt x="644720" y="345730"/>
                </a:lnTo>
                <a:lnTo>
                  <a:pt x="644819" y="341969"/>
                </a:lnTo>
                <a:lnTo>
                  <a:pt x="644514" y="336022"/>
                </a:lnTo>
                <a:lnTo>
                  <a:pt x="644747" y="332871"/>
                </a:lnTo>
                <a:lnTo>
                  <a:pt x="353319" y="332871"/>
                </a:lnTo>
                <a:lnTo>
                  <a:pt x="345957" y="329923"/>
                </a:lnTo>
                <a:lnTo>
                  <a:pt x="343570" y="326365"/>
                </a:lnTo>
                <a:lnTo>
                  <a:pt x="343570" y="288703"/>
                </a:lnTo>
                <a:lnTo>
                  <a:pt x="336716" y="287381"/>
                </a:lnTo>
                <a:lnTo>
                  <a:pt x="329704" y="286873"/>
                </a:lnTo>
                <a:close/>
              </a:path>
              <a:path w="646429" h="912495">
                <a:moveTo>
                  <a:pt x="618038" y="178154"/>
                </a:moveTo>
                <a:lnTo>
                  <a:pt x="353319" y="178154"/>
                </a:lnTo>
                <a:lnTo>
                  <a:pt x="357330" y="178917"/>
                </a:lnTo>
                <a:lnTo>
                  <a:pt x="360174" y="181712"/>
                </a:lnTo>
                <a:lnTo>
                  <a:pt x="426892" y="248600"/>
                </a:lnTo>
                <a:lnTo>
                  <a:pt x="430700" y="252361"/>
                </a:lnTo>
                <a:lnTo>
                  <a:pt x="430700" y="258461"/>
                </a:lnTo>
                <a:lnTo>
                  <a:pt x="360174" y="329262"/>
                </a:lnTo>
                <a:lnTo>
                  <a:pt x="357330" y="331956"/>
                </a:lnTo>
                <a:lnTo>
                  <a:pt x="353319" y="332871"/>
                </a:lnTo>
                <a:lnTo>
                  <a:pt x="644747" y="332871"/>
                </a:lnTo>
                <a:lnTo>
                  <a:pt x="644815" y="331956"/>
                </a:lnTo>
                <a:lnTo>
                  <a:pt x="637313" y="289414"/>
                </a:lnTo>
                <a:lnTo>
                  <a:pt x="634962" y="255801"/>
                </a:lnTo>
                <a:lnTo>
                  <a:pt x="627730" y="213955"/>
                </a:lnTo>
                <a:lnTo>
                  <a:pt x="618038" y="178154"/>
                </a:lnTo>
                <a:close/>
              </a:path>
              <a:path w="646429" h="912495">
                <a:moveTo>
                  <a:pt x="343570" y="217901"/>
                </a:moveTo>
                <a:lnTo>
                  <a:pt x="329704" y="217901"/>
                </a:lnTo>
                <a:lnTo>
                  <a:pt x="336665" y="218257"/>
                </a:lnTo>
                <a:lnTo>
                  <a:pt x="343570" y="219019"/>
                </a:lnTo>
                <a:lnTo>
                  <a:pt x="343570" y="217901"/>
                </a:lnTo>
                <a:close/>
              </a:path>
            </a:pathLst>
          </a:custGeom>
          <a:solidFill>
            <a:srgbClr val="D5D4D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5741" y="2656332"/>
            <a:ext cx="11803380" cy="1057910"/>
            <a:chOff x="675741" y="2656332"/>
            <a:chExt cx="11803380" cy="1057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741" y="2656332"/>
              <a:ext cx="1553718" cy="5090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6764" y="2656332"/>
              <a:ext cx="3223894" cy="5090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79237" y="2656332"/>
              <a:ext cx="283463" cy="5090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20969" y="2656332"/>
              <a:ext cx="1369441" cy="50901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94704" y="2656332"/>
              <a:ext cx="4650105" cy="5090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58754" y="2656332"/>
              <a:ext cx="1620138" cy="5090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5741" y="3204972"/>
              <a:ext cx="868070" cy="50901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5741" y="4302505"/>
            <a:ext cx="9021064" cy="50901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75741" y="740359"/>
            <a:ext cx="3228974" cy="82631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672083" y="525780"/>
            <a:ext cx="2952115" cy="125095"/>
          </a:xfrm>
          <a:custGeom>
            <a:avLst/>
            <a:gdLst/>
            <a:ahLst/>
            <a:cxnLst/>
            <a:rect l="l" t="t" r="r" b="b"/>
            <a:pathLst>
              <a:path w="2952115" h="125095">
                <a:moveTo>
                  <a:pt x="2951988" y="0"/>
                </a:moveTo>
                <a:lnTo>
                  <a:pt x="0" y="0"/>
                </a:lnTo>
                <a:lnTo>
                  <a:pt x="0" y="124968"/>
                </a:lnTo>
                <a:lnTo>
                  <a:pt x="2951988" y="124968"/>
                </a:lnTo>
                <a:lnTo>
                  <a:pt x="29519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63041" y="1923999"/>
            <a:ext cx="31280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3300"/>
                </a:solidFill>
              </a:rPr>
              <a:t>Para </a:t>
            </a:r>
            <a:r>
              <a:rPr spc="-10" dirty="0">
                <a:solidFill>
                  <a:srgbClr val="FF3300"/>
                </a:solidFill>
              </a:rPr>
              <a:t>profundizar</a:t>
            </a:r>
          </a:p>
        </p:txBody>
      </p:sp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539728" y="8279892"/>
            <a:ext cx="839724" cy="83972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243B5D-9B6F-2467-B1BD-934A0FCD9E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r="40837"/>
          <a:stretch>
            <a:fillRect/>
          </a:stretch>
        </p:blipFill>
        <p:spPr>
          <a:xfrm>
            <a:off x="24070" y="-15240"/>
            <a:ext cx="13004800" cy="9753600"/>
          </a:xfrm>
          <a:prstGeom prst="rect">
            <a:avLst/>
          </a:prstGeom>
          <a:blipFill>
            <a:blip r:embed="rId3">
              <a:alphaModFix amt="20000"/>
            </a:blip>
          </a:blipFill>
          <a:ln w="12700">
            <a:miter lim="400000"/>
          </a:ln>
        </p:spPr>
      </p:pic>
      <p:sp>
        <p:nvSpPr>
          <p:cNvPr id="141" name="Escuela de Ingeniería de Sistemas y Computación | Facultad de Ingeniería"/>
          <p:cNvSpPr txBox="1"/>
          <p:nvPr/>
        </p:nvSpPr>
        <p:spPr>
          <a:xfrm>
            <a:off x="658450" y="1449428"/>
            <a:ext cx="6982816" cy="328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1800" b="0">
                <a:solidFill>
                  <a:srgbClr val="FFFFFF"/>
                </a:solidFill>
                <a:latin typeface="Zizou Slab Light"/>
                <a:ea typeface="Zizou Slab Light"/>
                <a:cs typeface="Zizou Slab Light"/>
                <a:sym typeface="Zizou Slab Light"/>
              </a:defRPr>
            </a:lvl1pPr>
          </a:lstStyle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 Light"/>
                <a:sym typeface="Zizou Slab Light"/>
              </a:rPr>
              <a:t>Escuela de Ingeniería de Sistemas y Computación | Facultad de Ingeniería</a:t>
            </a:r>
          </a:p>
        </p:txBody>
      </p:sp>
      <p:sp>
        <p:nvSpPr>
          <p:cNvPr id="142" name="Ingeniería de Software"/>
          <p:cNvSpPr txBox="1"/>
          <p:nvPr/>
        </p:nvSpPr>
        <p:spPr>
          <a:xfrm>
            <a:off x="658450" y="1170028"/>
            <a:ext cx="4031553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1800" b="0">
                <a:solidFill>
                  <a:srgbClr val="FFFFFF"/>
                </a:solidFill>
                <a:latin typeface="Zizou Slab Medium"/>
                <a:ea typeface="Zizou Slab Medium"/>
                <a:cs typeface="Zizou Slab Medium"/>
                <a:sym typeface="Zizou Slab Medium"/>
              </a:defRPr>
            </a:lvl1pPr>
          </a:lstStyle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 Medium"/>
                <a:sym typeface="Zizou Slab Medium"/>
              </a:rPr>
              <a:t>Ingeniería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 Medium"/>
                <a:sym typeface="Zizou Slab Medium"/>
              </a:rPr>
              <a:t> de </a:t>
            </a:r>
            <a:r>
              <a:rPr kumimoji="0" lang="es-PE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 Medium"/>
                <a:sym typeface="Zizou Slab Medium"/>
              </a:rPr>
              <a:t> Sistemas de Información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Zizou Slab Medium"/>
              <a:sym typeface="Zizou Slab Medium"/>
            </a:endParaRPr>
          </a:p>
        </p:txBody>
      </p:sp>
      <p:sp>
        <p:nvSpPr>
          <p:cNvPr id="143" name="Universidad Peruana…"/>
          <p:cNvSpPr txBox="1"/>
          <p:nvPr/>
        </p:nvSpPr>
        <p:spPr>
          <a:xfrm>
            <a:off x="10454790" y="3868161"/>
            <a:ext cx="1478586" cy="40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FFFFFF"/>
                </a:solidFill>
                <a:latin typeface="Zizou Slab Light"/>
                <a:ea typeface="Zizou Slab Light"/>
                <a:cs typeface="Zizou Slab Light"/>
                <a:sym typeface="Zizou Slab Light"/>
              </a:defRPr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 Light"/>
                <a:sym typeface="Zizou Slab Light"/>
              </a:rPr>
              <a:t>Universidad Peruana </a:t>
            </a:r>
          </a:p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FFFFFF"/>
                </a:solidFill>
                <a:latin typeface="Zizou Slab Light"/>
                <a:ea typeface="Zizou Slab Light"/>
                <a:cs typeface="Zizou Slab Light"/>
                <a:sym typeface="Zizou Slab Light"/>
              </a:defRPr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 Light"/>
                <a:sym typeface="Zizou Slab Light"/>
              </a:rPr>
              <a:t>de Ciencias Aplicadas</a:t>
            </a:r>
          </a:p>
        </p:txBody>
      </p:sp>
      <p:pic>
        <p:nvPicPr>
          <p:cNvPr id="144" name="laurate.png" descr="laurate.png"/>
          <p:cNvPicPr>
            <a:picLocks noChangeAspect="1"/>
          </p:cNvPicPr>
          <p:nvPr/>
        </p:nvPicPr>
        <p:blipFill>
          <a:blip r:embed="rId4">
            <a:alphaModFix amt="22995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999" y="8548216"/>
            <a:ext cx="17653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logo-footer-3.png" descr="logo-footer-3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514833" y="2327420"/>
            <a:ext cx="826471" cy="826472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UPC"/>
          <p:cNvSpPr txBox="1"/>
          <p:nvPr/>
        </p:nvSpPr>
        <p:spPr>
          <a:xfrm>
            <a:off x="10454790" y="3612969"/>
            <a:ext cx="492122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1800" b="0">
                <a:solidFill>
                  <a:srgbClr val="4C4A5C"/>
                </a:solidFill>
                <a:latin typeface="Zizou Slab Medium"/>
                <a:ea typeface="Zizou Slab Medium"/>
                <a:cs typeface="Zizou Slab Medium"/>
                <a:sym typeface="Zizou Slab Medium"/>
              </a:defRPr>
            </a:lvl1pPr>
          </a:lstStyle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Zizou Slab Medium"/>
                <a:sym typeface="Zizou Slab Medium"/>
              </a:rPr>
              <a:t>UPC</a:t>
            </a:r>
          </a:p>
        </p:txBody>
      </p:sp>
      <p:sp>
        <p:nvSpPr>
          <p:cNvPr id="147" name="https://www.upc.edu.pe"/>
          <p:cNvSpPr txBox="1"/>
          <p:nvPr/>
        </p:nvSpPr>
        <p:spPr>
          <a:xfrm>
            <a:off x="10454790" y="5141045"/>
            <a:ext cx="1590600" cy="252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1200" b="0">
                <a:solidFill>
                  <a:srgbClr val="FFFFFF"/>
                </a:solidFill>
                <a:latin typeface="Zizou Slab Light"/>
                <a:ea typeface="Zizou Slab Light"/>
                <a:cs typeface="Zizou Slab Light"/>
                <a:sym typeface="Zizou Slab Light"/>
              </a:defRPr>
            </a:lvl1pPr>
          </a:lstStyle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 Light"/>
                <a:sym typeface="Zizou Slab Light"/>
              </a:rPr>
              <a:t>https://www.upc.edu.pe</a:t>
            </a:r>
          </a:p>
        </p:txBody>
      </p:sp>
      <p:sp>
        <p:nvSpPr>
          <p:cNvPr id="148" name="Prolongación Primavera 2390,…"/>
          <p:cNvSpPr txBox="1"/>
          <p:nvPr/>
        </p:nvSpPr>
        <p:spPr>
          <a:xfrm>
            <a:off x="10454790" y="4400189"/>
            <a:ext cx="2000251" cy="40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FFFFFF"/>
                </a:solidFill>
                <a:latin typeface="Zizou Slab Light"/>
                <a:ea typeface="Zizou Slab Light"/>
                <a:cs typeface="Zizou Slab Light"/>
                <a:sym typeface="Zizou Slab Light"/>
              </a:defRPr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 Light"/>
                <a:sym typeface="Zizou Slab Light"/>
              </a:rPr>
              <a:t>Prolongación Primavera 2390,</a:t>
            </a:r>
          </a:p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FFFFFF"/>
                </a:solidFill>
                <a:latin typeface="Zizou Slab Light"/>
                <a:ea typeface="Zizou Slab Light"/>
                <a:cs typeface="Zizou Slab Light"/>
                <a:sym typeface="Zizou Slab Light"/>
              </a:defRPr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 Light"/>
                <a:sym typeface="Zizou Slab Light"/>
              </a:rPr>
              <a:t>Monterrico, Santiago de Surco</a:t>
            </a:r>
          </a:p>
        </p:txBody>
      </p:sp>
      <p:sp>
        <p:nvSpPr>
          <p:cNvPr id="149" name="exígete, innova"/>
          <p:cNvSpPr txBox="1"/>
          <p:nvPr/>
        </p:nvSpPr>
        <p:spPr>
          <a:xfrm>
            <a:off x="10454790" y="5668816"/>
            <a:ext cx="1144373" cy="252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1200" b="0" i="1">
                <a:solidFill>
                  <a:srgbClr val="FFFFFF"/>
                </a:solidFill>
                <a:latin typeface="Zizou Slab Medium"/>
                <a:ea typeface="Zizou Slab Medium"/>
                <a:cs typeface="Zizou Slab Medium"/>
                <a:sym typeface="Zizou Slab Medium"/>
              </a:defRPr>
            </a:lvl1pPr>
          </a:lstStyle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 Medium"/>
                <a:sym typeface="Zizou Slab Medium"/>
              </a:rPr>
              <a:t>exígete, innova</a:t>
            </a:r>
          </a:p>
        </p:txBody>
      </p:sp>
      <p:sp>
        <p:nvSpPr>
          <p:cNvPr id="150" name="PREGRADO"/>
          <p:cNvSpPr txBox="1"/>
          <p:nvPr/>
        </p:nvSpPr>
        <p:spPr>
          <a:xfrm>
            <a:off x="597511" y="590268"/>
            <a:ext cx="2216954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defRPr sz="3600" b="0">
                <a:solidFill>
                  <a:srgbClr val="FFFFFF"/>
                </a:solidFill>
                <a:latin typeface="Solano Gothic MVB Std Bold"/>
                <a:ea typeface="Solano Gothic MVB Std Bold"/>
                <a:cs typeface="Solano Gothic MVB Std Bold"/>
                <a:sym typeface="Solano Gothic MVB Std Bold"/>
              </a:defRPr>
            </a:lvl1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"/>
                <a:sym typeface="Solano Gothic MVB Std Bold"/>
              </a:rPr>
              <a:t>PREGRADO</a:t>
            </a:r>
          </a:p>
        </p:txBody>
      </p:sp>
      <p:sp>
        <p:nvSpPr>
          <p:cNvPr id="151" name="Lima 33 - Perú"/>
          <p:cNvSpPr txBox="1"/>
          <p:nvPr/>
        </p:nvSpPr>
        <p:spPr>
          <a:xfrm>
            <a:off x="10454790" y="4740274"/>
            <a:ext cx="982219" cy="252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1200" b="0">
                <a:solidFill>
                  <a:srgbClr val="FFFFFF"/>
                </a:solidFill>
                <a:latin typeface="Zizou Slab Light"/>
                <a:ea typeface="Zizou Slab Light"/>
                <a:cs typeface="Zizou Slab Light"/>
                <a:sym typeface="Zizou Slab Light"/>
              </a:defRPr>
            </a:lvl1pPr>
          </a:lstStyle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 Light"/>
                <a:sym typeface="Zizou Slab Light"/>
              </a:rPr>
              <a:t>Lima 33 - Perú</a:t>
            </a:r>
          </a:p>
        </p:txBody>
      </p:sp>
      <p:sp>
        <p:nvSpPr>
          <p:cNvPr id="152" name="T 511 313 3333"/>
          <p:cNvSpPr txBox="1"/>
          <p:nvPr/>
        </p:nvSpPr>
        <p:spPr>
          <a:xfrm>
            <a:off x="10454790" y="4932216"/>
            <a:ext cx="946557" cy="252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1200" b="0">
                <a:solidFill>
                  <a:srgbClr val="FFFFFF"/>
                </a:solidFill>
                <a:latin typeface="Zizou Slab Light"/>
                <a:ea typeface="Zizou Slab Light"/>
                <a:cs typeface="Zizou Slab Light"/>
                <a:sym typeface="Zizou Slab Light"/>
              </a:defRPr>
            </a:lvl1pPr>
          </a:lstStyle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Zizou Slab Light"/>
                <a:sym typeface="Zizou Slab Light"/>
              </a:rPr>
              <a:t>T 511 313 3333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921</Words>
  <Application>Microsoft Office PowerPoint</Application>
  <PresentationFormat>Custom</PresentationFormat>
  <Paragraphs>198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Arial MT</vt:lpstr>
      <vt:lpstr>Calibri</vt:lpstr>
      <vt:lpstr>Courier New</vt:lpstr>
      <vt:lpstr>Helvetica Light</vt:lpstr>
      <vt:lpstr>Helvetica Neue</vt:lpstr>
      <vt:lpstr>Helvetica Neue Light</vt:lpstr>
      <vt:lpstr>Helvetica Neue Thin</vt:lpstr>
      <vt:lpstr>Zizou Slab</vt:lpstr>
      <vt:lpstr>Zizou Slab Light</vt:lpstr>
      <vt:lpstr>Zizou Slab Medium</vt:lpstr>
      <vt:lpstr>Office Theme</vt:lpstr>
      <vt:lpstr>White</vt:lpstr>
      <vt:lpstr>PowerPoint Presentation</vt:lpstr>
      <vt:lpstr>PowerPoint Presentation</vt:lpstr>
      <vt:lpstr>INTRO ABSTRACTION ENCAPSULATION INHERITANCE POLYMORPHISM</vt:lpstr>
      <vt:lpstr>PowerPoint Presentation</vt:lpstr>
      <vt:lpstr>Data Abstraction</vt:lpstr>
      <vt:lpstr>Control Abstraction</vt:lpstr>
      <vt:lpstr>INTRO ABSTRACTION ENCAPSULATION INHERITANCE POLYMORPHISM</vt:lpstr>
      <vt:lpstr>PowerPoint Presentation</vt:lpstr>
      <vt:lpstr>Information hiding</vt:lpstr>
      <vt:lpstr>Implementation hiding</vt:lpstr>
      <vt:lpstr>INTRO ABSTRACTION ENCAPSULATION INHERITANCE POLYMORPHISM</vt:lpstr>
      <vt:lpstr>Inheritance</vt:lpstr>
      <vt:lpstr>INTRO ABSTRACTION ENCAPSULATION INHERITANCE POLYMORPHISM</vt:lpstr>
      <vt:lpstr>Polymorphism</vt:lpstr>
      <vt:lpstr>Compile Time Polymorphism</vt:lpstr>
      <vt:lpstr>Runtime Polymorphism</vt:lpstr>
      <vt:lpstr>Method Overloading Rules</vt:lpstr>
      <vt:lpstr>Method Overloading Rules</vt:lpstr>
      <vt:lpstr>Method Overriding Rules</vt:lpstr>
      <vt:lpstr>Method Overriding Rules</vt:lpstr>
      <vt:lpstr>Method Overriding Rules</vt:lpstr>
      <vt:lpstr>Method Overriding Rules</vt:lpstr>
      <vt:lpstr>@Overriding annotation</vt:lpstr>
      <vt:lpstr>Recordemos</vt:lpstr>
      <vt:lpstr>Para profundizar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pcisavel (Velasquez Nuñez, Angel Augusto)</dc:creator>
  <cp:lastModifiedBy>rosa america cobeñas sanchez</cp:lastModifiedBy>
  <cp:revision>4</cp:revision>
  <dcterms:created xsi:type="dcterms:W3CDTF">2025-03-03T19:41:59Z</dcterms:created>
  <dcterms:modified xsi:type="dcterms:W3CDTF">2026-03-17T05:13:01Z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2023-08-09T00:00:00Z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2025-03-03T00:00:00Z</vt:filetime>
  </property>
  <property fmtid="{D5CDD505-2E9C-101B-9397-08002B2CF9AE}" pid="5" name="Producer">
    <vt:lpwstr>Microsoft® PowerPoint® para Microsoft 365</vt:lpwstr>
  </property>
</Properties>
</file>